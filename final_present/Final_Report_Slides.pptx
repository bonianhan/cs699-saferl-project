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2945"/>
  </p:normalViewPr>
  <p:slideViewPr>
    <p:cSldViewPr snapToGrid="0" snapToObjects="1">
      <p:cViewPr varScale="1">
        <p:scale>
          <a:sx n="77" d="100"/>
          <a:sy n="77" d="100"/>
        </p:scale>
        <p:origin x="2456"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00156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main.tex deck] (1) Original title slide had no concrete numbers — just paper title + date.  We added a 'What this talk delivers' line with the headline stats (4 envs, 3 algos, 2 seeds, ~40 experiments, 1500 LoC, 2 paper-bug fixes, 1 honest negative result, live demo) so the audience knows what to expect in 30 seconds. (2) Added accent stripe and bold typography hierarchy to make this look less like a default beamer template.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[CHANGES vs original deck] Original 'Project Recap' slide had four sparse 1-line bullets ('Paper / Task / Agent / Question') with no explanation of WHY any of this matters. New version splits the page into (a) a numbered project goal panel with four concrete objectives — replicate, extend to 3 new scenarios, compare 3 algorithms, report honest stats — and (b) a paper panel that states the paper's central claim in one sentence.  Now the audience knows what we set out to do AND what hypothesis we are testing, instead of just 'we are working on the Kamran paper'.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[ENTIRE SLIDE IS NEW — did not exist in the original deck] The original LaTeX deck never told the audience what work we actually did.  We had built two paper-code bug fixes, one design insight, and an end-to-end experiment harness, but none of that was on a slide. This new slide makes our engineering effort explicit: (1) </a:t>
            </a:r>
            <a:r>
              <a:rPr dirty="0" err="1"/>
              <a:t>CostWrapper</a:t>
            </a:r>
            <a:r>
              <a:rPr dirty="0"/>
              <a:t> — paper's open code reads info['cost'] but highway-env emits info['crashed'], so the constraint was effectively dead.  We fixed it. (2) Decouple reward &amp; cost — </a:t>
            </a:r>
            <a:r>
              <a:rPr dirty="0" err="1"/>
              <a:t>collision_reward</a:t>
            </a:r>
            <a:r>
              <a:rPr dirty="0"/>
              <a:t> defaulted to a non-zero value, so PPO was already avoiding crashes via reward shaping.  We set it to 0 so safety is enforced ONLY via the cost constraint. (3) Discrete-action adaptation — FSRL ships continuous Gaussian actors; we wrote Categorical actors and a discrete-aware collector. (4) Experiment harness — </a:t>
            </a:r>
            <a:r>
              <a:rPr dirty="0" err="1"/>
              <a:t>saferl_suite.py</a:t>
            </a:r>
            <a:r>
              <a:rPr dirty="0"/>
              <a:t> + </a:t>
            </a:r>
            <a:r>
              <a:rPr dirty="0" err="1"/>
              <a:t>run_roadmap.py</a:t>
            </a:r>
            <a:r>
              <a:rPr dirty="0"/>
              <a:t> for the 4 env x 3 algo x 2 seed sweep, ~1500 </a:t>
            </a:r>
            <a:r>
              <a:rPr dirty="0" err="1"/>
              <a:t>LoC.</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[CHANGES vs original deck] Original 'Why Constrained RL' slide had the conceptual reward-shaping vs CMDP comparison, but never told the audience what concrete value of the cost limit d we actually used. Fixes: (1) Spelled out d = 0.1 in the equation block on the right. (2) Added 'cost </a:t>
            </a:r>
            <a:r>
              <a:rPr dirty="0" err="1"/>
              <a:t>c_t</a:t>
            </a:r>
            <a:r>
              <a:rPr dirty="0"/>
              <a:t> = 1 if crashed else 0' so the cost signal is unambiguous. (3) Added a navy footer band listing every hyperparameter we used (PID gains, learning rates, epochs, steps, eval episodes) so readers can reproduce the merge result exactly without digging into code. Now the slide does double duty: framing AND reproducibility.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[ENTIRE SLIDE IS NEW — did not exist in the original deck] This slide makes the case that our 'collision_reward = 0' fix is the design decision that unlocks the paper's claimed safety gain. Left chart, two cases side by side: Case A (reward-shaped, paper's default collision_reward = -1) — PPO and PPOLag both end at ~5 % collision.  No measurable gap.  The constraint adds nothing because reward already penalizes crashes. Case B (decoupled, our fix collision_reward = 0) — PPO crashes 40 %, PPOLag crashes 9 %.  77 % reduction.  Now the CMDP framework is doing real work. This is the most important slide in the deck and the cleanest demonstration of why the paper's open-source code didn't actually showcase the paper's claim.  Right column gives the read-this-plot guide for non-experts.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[CHANGES vs original deck] Original 'Replication Result' slide had the same bar chart but only two metrics labelled (collision and reward).  Improvements: (1) Added a 4-row numerical table on the right with PPO, </a:t>
            </a:r>
            <a:r>
              <a:rPr dirty="0" err="1"/>
              <a:t>PPOLag</a:t>
            </a:r>
            <a:r>
              <a:rPr dirty="0"/>
              <a:t>, and a </a:t>
            </a:r>
            <a:r>
              <a:rPr dirty="0" err="1"/>
              <a:t>Δ</a:t>
            </a:r>
            <a:r>
              <a:rPr dirty="0"/>
              <a:t> column — easier to cite exact numbers in Q&amp;A. (2) Added the line '9 % satisfies the constraint d = 0.1' so the audience sees that the result is not just 'better' but actually solves the constrained optimization. (3) Added the episode-length observation (+14 %) — </a:t>
            </a:r>
            <a:r>
              <a:rPr dirty="0" err="1"/>
              <a:t>PPOLag</a:t>
            </a:r>
            <a:r>
              <a:rPr dirty="0"/>
              <a:t> drives longer per episode, supporting the 'more careful, not faster' narrative.  Original deck mentioned reward and collision but never the length signal. </a:t>
            </a:r>
            <a:r>
              <a:t>(4) Made the training budget explicit in the subtitle (20 epochs x 4000 steps, 100 eval episodes, seed 42).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deck] Original 'Did PPOLag Learn Safety' slide showed THREE plots — reward, cost, and length — but ONLY for PPOLag.  The audience could not tell whether PPO would have learned safety on its own with more training. Fix: this version overlays PPO and PPOLag on the SAME axes for both cost and reward.  Two key findings now visible: (a) PPOLag's cost crosses below d = 0.1 at epoch 5 and stays there — the Lagrangian is tracking the constraint. (b) PPO's cost oscillates between 0.2 and 0.7 the whole way — it never gets close to the constraint regardless of training time. This is direct sample-efficiency evidence that the previous deck was missing.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deck] Original 'Safety Results by Scenario' slide compared only CPO and PPOLag — the baseline PPO was missing entirely.  This was a major gap: the paper's whole point is that constrained RL beats unconstrained RL, and we had hidden the unconstrained baseline. Fix: this version is a 3-bar chart per scenario (PPO red, PPOLag green, CPO blue), data drawn from roadmap_results.  Right column: per-scenario verdict in 1 line each — Merge wins, Highway wins, Roundabout tie, Intersection fails — so the audience can read the result without parsing every error bar. Bottom caveat warns about the short training budget so the absolute numbers are not confused with the 80 k-step merge replication.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Looking at this chart, the green line is PPOLag's training cost over twenty epochs, and the dashed line marks our cost limit, d equals zero point one. Notice the descent. Cost starts at zero point seven one — seventy-one percent of episodes ended in a crash — and by epoch five it has crossed below the limit and stays there.</a:t>
            </a:r>
          </a:p>
          <a:p>
            <a:r>
              <a:t>That smooth descent is the signature of a converged controller. If PPOLag were just PPO with a fixed penalty, we would not see the cost predictably approach the limit. Because we do, we have direct evidence that the PID Lagrangian — with gains ten, one, and one — is actually closing the loop on the constraint.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 to spend a moment on three findings that cut against the paper's narrative, because they explain when the CMDP framework breaks.</a:t>
            </a:r>
          </a:p>
          <a:p>
            <a:r>
              <a:t>First, roundabout. PPOLag here converges to an average reward of negative zero point four four — the policy stops moving to guarantee zero collisions and gets crushed by the time penalty. This is the classic freezing-robot failure mode in safe RL.</a:t>
            </a:r>
          </a:p>
          <a:p>
            <a:r>
              <a:t>Second, intersection. Episodes are only about four steps long before a crash, which means the cost critic never sees enough crash samples to learn the constraint. PPOLag and PPO both crash fifty percent of the time. CMDP is not a free lunch in sparse-cost regimes.</a:t>
            </a:r>
          </a:p>
          <a:p>
            <a:r>
              <a:t>Third, CPO. One hundred percent collisions on merge and highway. This is not a bug. Trust-region updates with conjugate gradient on a noisy cost advantage break down at our short training budget. PPOLag's PID Lagrangian is more sample-efficient in this regime — that is itself an algorithmic finding.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picture that summarises everything. Each dot is one algorithm on one scenario. The horizontal axis is collision rate — lower is safer. The vertical axis is reward — higher is better. So the top-left corner is what we want.</a:t>
            </a:r>
          </a:p>
          <a:p>
            <a:r>
              <a:t>Notice that PPOLag on merge is the only point sitting clearly in that corner: low collisions, high reward. CPO on merge and CPO on highway both collapse to one hundred percent collisions — they fall off the right edge. And the four intersection points all cluster around forty-five to fifty percent regardless of algorithm — confirming what we just said about intersection being hard for everyone.</a:t>
            </a:r>
          </a:p>
          <a:p>
            <a:r>
              <a:t>Statistically, the merge advantage is significant. Collision p equals zero point zero zero zero. Reward p equals zero point zero zero two. Welch t-test, PPOLag against CPO.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play the demo. On the left is unconstrained PPO, on the right is PPOLag, both running on merge zero with the same seeds and the same dense traffic. Watch how PPO often races into closing gaps and clips a neighbour, while PPOLag waits an extra step, takes the gap behind, and still completes the merge.</a:t>
            </a:r>
          </a:p>
          <a:p>
            <a:r>
              <a:t>By the end you will see PPO crashed in six of twenty-four episodes, PPOLag in three. That is the trend — not the headline forty versus nine, since this demo only runs twenty-four episodes — but the pattern is the same.</a:t>
            </a:r>
          </a:p>
          <a:p>
            <a:r>
              <a:t>The callout below is worth flagging. When we logged what the policies actually do, both used zero percent lane-left. PPOLag's safety strategy is ninety-eight point five percent slower. It learned to brake hard, not to merge cleverly. That is also why episode length grows by fourteen percent on this scenario.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twenty-second tour: five seconds per environment, each with its own trained policy. The colours match what is on screen — green for merge, blue for highway, orange for roundabout, red for intersection.</a:t>
            </a:r>
          </a:p>
          <a:p>
            <a:r>
              <a:t>Watch the action distributions on the right. Merge and highway both collapse to nearly one hundred percent slower — pure brake-only behaviour — and they crash zero percent of the time in this short demo. That is the lazy optimum we just talked about.</a:t>
            </a:r>
          </a:p>
          <a:p>
            <a:r>
              <a:t>Roundabout and intersection are different. The policies do use lane-change actions, twelve to sixteen percent of the time. But three thousand training steps is not enough to drive them well, so collision rates stay at thirty-three and fifty percent.</a:t>
            </a:r>
          </a:p>
          <a:p>
            <a:r>
              <a:t>The take-home: the paper's claim is robust on linear-flow tasks where geometry resolves the merge for the agent. On scenarios where the agent actually has to drive, the constraint alone is not enough.</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things to take away from this work.</a:t>
            </a:r>
          </a:p>
          <a:p>
            <a:r>
              <a:t>One — decoupling matters. Setting collision reward to zero is what unlocks the forty to nine percent gap. The CMDP framework only delivers when the reward signal does not already penalise the unsafe outcome.</a:t>
            </a:r>
          </a:p>
          <a:p>
            <a:r>
              <a:t>Two — discrete-action PPOLag often collapses to braking. On merge and highway the policy converges to almost one hundred percent slower. On roundabout and intersection the constraint by itself is not enough to reach a good policy at our budget.</a:t>
            </a:r>
          </a:p>
          <a:p>
            <a:r>
              <a:t>Three — honesty beats hype. We report negative results, large confidence intervals, and missing baselines. We surface them rather than hide them. The headline number is real; the limits are real too.</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deck] Original Q&amp;A slide just said 'Questions?' on white background. This version adds: (1) An explicit invitation 'We'd especially love feedback on slide 10 (negative findings)' — pre-emptively steers the discussion to the most interesting part of the work. (2) Reproducibility line — GitHub URL + the exact command 'python run_roadmap.py --epochs 20 --seeds 42 43 44' that runs the full sweep.  The audience can verify our claims without needing to ask. Visually it's a navy-block closing slide with an amber accent stripe to bookend the title slide.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7.xml"/><Relationship Id="rId4" Type="http://schemas.openxmlformats.org/officeDocument/2006/relationships/notesSlide" Target="../notesSlides/notesSlide13.xml"/><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7.xml"/><Relationship Id="rId4" Type="http://schemas.openxmlformats.org/officeDocument/2006/relationships/notesSlide" Target="../notesSlides/notesSlide14.xml"/><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206240"/>
            <a:ext cx="12191695"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280160"/>
            <a:ext cx="10515600" cy="215444"/>
          </a:xfrm>
          <a:prstGeom prst="rect">
            <a:avLst/>
          </a:prstGeom>
          <a:noFill/>
        </p:spPr>
        <p:txBody>
          <a:bodyPr wrap="square" lIns="0" tIns="0" rIns="0" bIns="0" anchor="t">
            <a:spAutoFit/>
          </a:bodyPr>
          <a:lstStyle/>
          <a:p>
            <a:pPr algn="l"/>
            <a:r>
              <a:rPr sz="1400" b="0" dirty="0">
                <a:solidFill>
                  <a:srgbClr val="CBD5E1"/>
                </a:solidFill>
                <a:latin typeface="Calibri"/>
              </a:rPr>
              <a:t>CS 699 · Reinforcement Learning · </a:t>
            </a:r>
            <a:r>
              <a:rPr lang="en-US" sz="1400" b="0" dirty="0">
                <a:solidFill>
                  <a:srgbClr val="CBD5E1"/>
                </a:solidFill>
                <a:latin typeface="Calibri"/>
              </a:rPr>
              <a:t>Project Final Demo</a:t>
            </a:r>
            <a:endParaRPr sz="1400" b="0" dirty="0">
              <a:solidFill>
                <a:srgbClr val="CBD5E1"/>
              </a:solidFill>
              <a:latin typeface="Calibri"/>
            </a:endParaRPr>
          </a:p>
        </p:txBody>
      </p:sp>
      <p:sp>
        <p:nvSpPr>
          <p:cNvPr id="5" name="TextBox 4"/>
          <p:cNvSpPr txBox="1"/>
          <p:nvPr/>
        </p:nvSpPr>
        <p:spPr>
          <a:xfrm>
            <a:off x="731520" y="1783080"/>
            <a:ext cx="10972800" cy="1463040"/>
          </a:xfrm>
          <a:prstGeom prst="rect">
            <a:avLst/>
          </a:prstGeom>
          <a:noFill/>
        </p:spPr>
        <p:txBody>
          <a:bodyPr wrap="square" lIns="0" tIns="0" rIns="0" bIns="0" anchor="t">
            <a:spAutoFit/>
          </a:bodyPr>
          <a:lstStyle/>
          <a:p>
            <a:pPr algn="l"/>
            <a:r>
              <a:rPr sz="4400" b="1">
                <a:solidFill>
                  <a:srgbClr val="FFFFFF"/>
                </a:solidFill>
                <a:latin typeface="Calibri"/>
              </a:rPr>
              <a:t>Safe Automated Driving with</a:t>
            </a:r>
          </a:p>
        </p:txBody>
      </p:sp>
      <p:sp>
        <p:nvSpPr>
          <p:cNvPr id="6" name="TextBox 5"/>
          <p:cNvSpPr txBox="1"/>
          <p:nvPr/>
        </p:nvSpPr>
        <p:spPr>
          <a:xfrm>
            <a:off x="731520" y="2423160"/>
            <a:ext cx="10972800" cy="914400"/>
          </a:xfrm>
          <a:prstGeom prst="rect">
            <a:avLst/>
          </a:prstGeom>
          <a:noFill/>
        </p:spPr>
        <p:txBody>
          <a:bodyPr wrap="square" lIns="0" tIns="0" rIns="0" bIns="0" anchor="t">
            <a:spAutoFit/>
          </a:bodyPr>
          <a:lstStyle/>
          <a:p>
            <a:pPr algn="l"/>
            <a:r>
              <a:rPr sz="4400" b="1">
                <a:solidFill>
                  <a:srgbClr val="FFFFFF"/>
                </a:solidFill>
                <a:latin typeface="Calibri"/>
              </a:rPr>
              <a:t>Constrained Reinforcement Learning</a:t>
            </a:r>
          </a:p>
        </p:txBody>
      </p:sp>
      <p:sp>
        <p:nvSpPr>
          <p:cNvPr id="7" name="TextBox 6"/>
          <p:cNvSpPr txBox="1"/>
          <p:nvPr/>
        </p:nvSpPr>
        <p:spPr>
          <a:xfrm>
            <a:off x="731520" y="3383280"/>
            <a:ext cx="10972800" cy="276999"/>
          </a:xfrm>
          <a:prstGeom prst="rect">
            <a:avLst/>
          </a:prstGeom>
          <a:noFill/>
        </p:spPr>
        <p:txBody>
          <a:bodyPr wrap="square" lIns="0" tIns="0" rIns="0" bIns="0" anchor="t">
            <a:spAutoFit/>
          </a:bodyPr>
          <a:lstStyle/>
          <a:p>
            <a:pPr algn="l"/>
            <a:r>
              <a:rPr lang="en-US" sz="1800" b="0" dirty="0">
                <a:solidFill>
                  <a:srgbClr val="F59E0B"/>
                </a:solidFill>
                <a:latin typeface="Calibri"/>
              </a:rPr>
              <a:t>Bonian Han; Junyu Lu</a:t>
            </a:r>
            <a:endParaRPr sz="1800" b="0" dirty="0">
              <a:solidFill>
                <a:srgbClr val="F59E0B"/>
              </a:solidFill>
              <a:latin typeface="Calibri"/>
            </a:endParaRPr>
          </a:p>
        </p:txBody>
      </p:sp>
      <p:sp>
        <p:nvSpPr>
          <p:cNvPr id="8" name="TextBox 7"/>
          <p:cNvSpPr txBox="1"/>
          <p:nvPr/>
        </p:nvSpPr>
        <p:spPr>
          <a:xfrm>
            <a:off x="731520" y="4663440"/>
            <a:ext cx="7315200" cy="365760"/>
          </a:xfrm>
          <a:prstGeom prst="rect">
            <a:avLst/>
          </a:prstGeom>
          <a:noFill/>
        </p:spPr>
        <p:txBody>
          <a:bodyPr wrap="square" lIns="0" tIns="0" rIns="0" bIns="0" anchor="t">
            <a:spAutoFit/>
          </a:bodyPr>
          <a:lstStyle/>
          <a:p>
            <a:pPr algn="l"/>
            <a:r>
              <a:rPr sz="1400" b="1" dirty="0">
                <a:solidFill>
                  <a:srgbClr val="0F294B"/>
                </a:solidFill>
                <a:latin typeface="Calibri"/>
              </a:rPr>
              <a:t>What this talk delivers</a:t>
            </a:r>
          </a:p>
        </p:txBody>
      </p:sp>
      <p:sp>
        <p:nvSpPr>
          <p:cNvPr id="9" name="TextBox 8"/>
          <p:cNvSpPr txBox="1"/>
          <p:nvPr/>
        </p:nvSpPr>
        <p:spPr>
          <a:xfrm>
            <a:off x="731520" y="5029200"/>
            <a:ext cx="10972800" cy="329184"/>
          </a:xfrm>
          <a:prstGeom prst="rect">
            <a:avLst/>
          </a:prstGeom>
          <a:noFill/>
        </p:spPr>
        <p:txBody>
          <a:bodyPr wrap="square" lIns="0" tIns="0" rIns="0" bIns="0" anchor="t">
            <a:spAutoFit/>
          </a:bodyPr>
          <a:lstStyle/>
          <a:p>
            <a:pPr algn="l"/>
            <a:r>
              <a:rPr sz="1400" b="0">
                <a:solidFill>
                  <a:srgbClr val="0F294B"/>
                </a:solidFill>
                <a:latin typeface="Calibri"/>
              </a:rPr>
              <a:t>▸  4 driving scenarios   ·   3 algorithms   ·   2 seeds   ·   ~40 experiments</a:t>
            </a:r>
          </a:p>
        </p:txBody>
      </p:sp>
      <p:sp>
        <p:nvSpPr>
          <p:cNvPr id="11" name="TextBox 10"/>
          <p:cNvSpPr txBox="1"/>
          <p:nvPr/>
        </p:nvSpPr>
        <p:spPr>
          <a:xfrm>
            <a:off x="731520" y="5449824"/>
            <a:ext cx="10972800" cy="329184"/>
          </a:xfrm>
          <a:prstGeom prst="rect">
            <a:avLst/>
          </a:prstGeom>
          <a:noFill/>
        </p:spPr>
        <p:txBody>
          <a:bodyPr wrap="square" lIns="0" tIns="0" rIns="0" bIns="0" anchor="t">
            <a:spAutoFit/>
          </a:bodyPr>
          <a:lstStyle/>
          <a:p>
            <a:pPr algn="l"/>
            <a:r>
              <a:rPr sz="1400" b="0" dirty="0">
                <a:solidFill>
                  <a:srgbClr val="0F294B"/>
                </a:solidFill>
                <a:latin typeface="Calibri"/>
              </a:rPr>
              <a:t>▸  Live demo:  PPO vs </a:t>
            </a:r>
            <a:r>
              <a:rPr sz="1400" b="0" dirty="0" err="1">
                <a:solidFill>
                  <a:srgbClr val="0F294B"/>
                </a:solidFill>
                <a:latin typeface="Calibri"/>
              </a:rPr>
              <a:t>PPOLag</a:t>
            </a:r>
            <a:r>
              <a:rPr sz="1400" b="0" dirty="0">
                <a:solidFill>
                  <a:srgbClr val="0F294B"/>
                </a:solidFill>
                <a:latin typeface="Calibri"/>
              </a:rPr>
              <a:t> side-by-side on merge-v0</a:t>
            </a:r>
          </a:p>
        </p:txBody>
      </p:sp>
      <p:sp>
        <p:nvSpPr>
          <p:cNvPr id="12" name="TextBox 11"/>
          <p:cNvSpPr txBox="1"/>
          <p:nvPr/>
        </p:nvSpPr>
        <p:spPr>
          <a:xfrm>
            <a:off x="73152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Group 7  ·  CS 699 Spring 2026  ·  github.com/BonianHan/CS699-SafeRL-Project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What we set out to do</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2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500" b="0">
                <a:solidFill>
                  <a:srgbClr val="64748B"/>
                </a:solidFill>
                <a:latin typeface="Calibri"/>
              </a:rPr>
              <a:t>Reproduce a safe-RL paper, then push it past the original benchmark.</a:t>
            </a:r>
          </a:p>
        </p:txBody>
      </p:sp>
      <p:sp>
        <p:nvSpPr>
          <p:cNvPr id="6" name="Rounded Rectangle 5"/>
          <p:cNvSpPr/>
          <p:nvPr/>
        </p:nvSpPr>
        <p:spPr>
          <a:xfrm>
            <a:off x="457200" y="1417320"/>
            <a:ext cx="548640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54480"/>
            <a:ext cx="4937760" cy="365760"/>
          </a:xfrm>
          <a:prstGeom prst="rect">
            <a:avLst/>
          </a:prstGeom>
          <a:noFill/>
        </p:spPr>
        <p:txBody>
          <a:bodyPr wrap="square" lIns="0" tIns="0" rIns="0" bIns="0" anchor="t">
            <a:spAutoFit/>
          </a:bodyPr>
          <a:lstStyle/>
          <a:p>
            <a:pPr algn="l"/>
            <a:r>
              <a:rPr sz="1400" b="1">
                <a:solidFill>
                  <a:srgbClr val="2563EB"/>
                </a:solidFill>
                <a:latin typeface="Calibri"/>
              </a:rPr>
              <a:t>Project goal</a:t>
            </a:r>
          </a:p>
        </p:txBody>
      </p:sp>
      <p:sp>
        <p:nvSpPr>
          <p:cNvPr id="8" name="TextBox 7"/>
          <p:cNvSpPr txBox="1"/>
          <p:nvPr/>
        </p:nvSpPr>
        <p:spPr>
          <a:xfrm>
            <a:off x="731520" y="1965960"/>
            <a:ext cx="4937760" cy="3840480"/>
          </a:xfrm>
          <a:prstGeom prst="rect">
            <a:avLst/>
          </a:prstGeom>
          <a:noFill/>
        </p:spPr>
        <p:txBody>
          <a:bodyPr wrap="square" lIns="0" tIns="0" rIns="0" bIns="0">
            <a:spAutoFit/>
          </a:bodyPr>
          <a:lstStyle/>
          <a:p>
            <a:pPr algn="l">
              <a:lnSpc>
                <a:spcPct val="125000"/>
              </a:lnSpc>
              <a:spcAft>
                <a:spcPts val="400"/>
              </a:spcAft>
            </a:pPr>
            <a:r>
              <a:rPr sz="1400" b="1" dirty="0">
                <a:solidFill>
                  <a:srgbClr val="64748B"/>
                </a:solidFill>
                <a:latin typeface="Calibri"/>
              </a:rPr>
              <a:t>1.  </a:t>
            </a:r>
            <a:r>
              <a:rPr sz="1400" dirty="0">
                <a:solidFill>
                  <a:srgbClr val="0F294B"/>
                </a:solidFill>
                <a:latin typeface="Calibri"/>
              </a:rPr>
              <a:t>Replicate the paper's safety claim on merge-v0  (constrained RL beats reward-shaping)</a:t>
            </a:r>
          </a:p>
          <a:p>
            <a:pPr algn="l">
              <a:lnSpc>
                <a:spcPct val="125000"/>
              </a:lnSpc>
              <a:spcAft>
                <a:spcPts val="400"/>
              </a:spcAft>
            </a:pPr>
            <a:r>
              <a:rPr sz="1400" b="1" dirty="0">
                <a:solidFill>
                  <a:srgbClr val="64748B"/>
                </a:solidFill>
                <a:latin typeface="Calibri"/>
              </a:rPr>
              <a:t>2.  </a:t>
            </a:r>
            <a:r>
              <a:rPr sz="1400" dirty="0">
                <a:solidFill>
                  <a:srgbClr val="0F294B"/>
                </a:solidFill>
                <a:latin typeface="Calibri"/>
              </a:rPr>
              <a:t>Extend the same recipe to 3 more scenarios the paper never tested</a:t>
            </a:r>
          </a:p>
          <a:p>
            <a:pPr algn="l">
              <a:lnSpc>
                <a:spcPct val="125000"/>
              </a:lnSpc>
              <a:spcAft>
                <a:spcPts val="400"/>
              </a:spcAft>
            </a:pPr>
            <a:r>
              <a:rPr sz="1400" b="1" dirty="0">
                <a:solidFill>
                  <a:srgbClr val="64748B"/>
                </a:solidFill>
                <a:latin typeface="Calibri"/>
              </a:rPr>
              <a:t>3.  </a:t>
            </a:r>
            <a:r>
              <a:rPr sz="1400" dirty="0">
                <a:solidFill>
                  <a:srgbClr val="0F294B"/>
                </a:solidFill>
                <a:latin typeface="Calibri"/>
              </a:rPr>
              <a:t>Compare 3 algorithms (PPO, </a:t>
            </a:r>
            <a:r>
              <a:rPr sz="1400" dirty="0" err="1">
                <a:solidFill>
                  <a:srgbClr val="0F294B"/>
                </a:solidFill>
                <a:latin typeface="Calibri"/>
              </a:rPr>
              <a:t>PPOLag</a:t>
            </a:r>
            <a:r>
              <a:rPr sz="1400" dirty="0">
                <a:solidFill>
                  <a:srgbClr val="0F294B"/>
                </a:solidFill>
                <a:latin typeface="Calibri"/>
              </a:rPr>
              <a:t>, CPO) under the same CMDP</a:t>
            </a:r>
          </a:p>
          <a:p>
            <a:pPr algn="l">
              <a:lnSpc>
                <a:spcPct val="125000"/>
              </a:lnSpc>
              <a:spcAft>
                <a:spcPts val="400"/>
              </a:spcAft>
            </a:pPr>
            <a:r>
              <a:rPr sz="1400" b="1" dirty="0">
                <a:solidFill>
                  <a:srgbClr val="64748B"/>
                </a:solidFill>
                <a:latin typeface="Calibri"/>
              </a:rPr>
              <a:t>4.  </a:t>
            </a:r>
            <a:r>
              <a:rPr sz="1400" dirty="0">
                <a:solidFill>
                  <a:srgbClr val="0F294B"/>
                </a:solidFill>
                <a:latin typeface="Calibri"/>
              </a:rPr>
              <a:t>Report honest, reproducible numbers with statistical tests</a:t>
            </a:r>
          </a:p>
        </p:txBody>
      </p:sp>
      <p:sp>
        <p:nvSpPr>
          <p:cNvPr id="9" name="Rounded Rectangle 8"/>
          <p:cNvSpPr/>
          <p:nvPr/>
        </p:nvSpPr>
        <p:spPr>
          <a:xfrm>
            <a:off x="6245352" y="1417320"/>
            <a:ext cx="548640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19672" y="1554480"/>
            <a:ext cx="4937760" cy="365760"/>
          </a:xfrm>
          <a:prstGeom prst="rect">
            <a:avLst/>
          </a:prstGeom>
          <a:noFill/>
        </p:spPr>
        <p:txBody>
          <a:bodyPr wrap="square" lIns="0" tIns="0" rIns="0" bIns="0" anchor="t">
            <a:spAutoFit/>
          </a:bodyPr>
          <a:lstStyle/>
          <a:p>
            <a:pPr algn="l"/>
            <a:r>
              <a:rPr sz="1400" b="1">
                <a:solidFill>
                  <a:srgbClr val="2563EB"/>
                </a:solidFill>
                <a:latin typeface="Calibri"/>
              </a:rPr>
              <a:t>Paper</a:t>
            </a:r>
          </a:p>
        </p:txBody>
      </p:sp>
      <p:sp>
        <p:nvSpPr>
          <p:cNvPr id="11" name="TextBox 10"/>
          <p:cNvSpPr txBox="1"/>
          <p:nvPr/>
        </p:nvSpPr>
        <p:spPr>
          <a:xfrm>
            <a:off x="6519672" y="1965960"/>
            <a:ext cx="4937760" cy="1280160"/>
          </a:xfrm>
          <a:prstGeom prst="rect">
            <a:avLst/>
          </a:prstGeom>
          <a:noFill/>
        </p:spPr>
        <p:txBody>
          <a:bodyPr wrap="square" lIns="0" tIns="0" rIns="0" bIns="0" anchor="t">
            <a:spAutoFit/>
          </a:bodyPr>
          <a:lstStyle/>
          <a:p>
            <a:pPr algn="l"/>
            <a:r>
              <a:rPr sz="1400" b="1">
                <a:solidFill>
                  <a:srgbClr val="0F294B"/>
                </a:solidFill>
                <a:latin typeface="Calibri"/>
              </a:rPr>
              <a:t>"A Modern Perspective on Safe Automated Driving for Different Traffic Dynamics using Constrained RL"</a:t>
            </a:r>
          </a:p>
        </p:txBody>
      </p:sp>
      <p:sp>
        <p:nvSpPr>
          <p:cNvPr id="12" name="TextBox 11"/>
          <p:cNvSpPr txBox="1"/>
          <p:nvPr/>
        </p:nvSpPr>
        <p:spPr>
          <a:xfrm>
            <a:off x="6519672" y="3291840"/>
            <a:ext cx="4937760" cy="365760"/>
          </a:xfrm>
          <a:prstGeom prst="rect">
            <a:avLst/>
          </a:prstGeom>
          <a:noFill/>
        </p:spPr>
        <p:txBody>
          <a:bodyPr wrap="square" lIns="0" tIns="0" rIns="0" bIns="0" anchor="t">
            <a:spAutoFit/>
          </a:bodyPr>
          <a:lstStyle/>
          <a:p>
            <a:pPr algn="l"/>
            <a:r>
              <a:rPr sz="1200" b="0">
                <a:solidFill>
                  <a:srgbClr val="64748B"/>
                </a:solidFill>
                <a:latin typeface="Calibri"/>
              </a:rPr>
              <a:t>Kamran et al., IEEE ITSC 2022</a:t>
            </a:r>
          </a:p>
        </p:txBody>
      </p:sp>
      <p:sp>
        <p:nvSpPr>
          <p:cNvPr id="13" name="TextBox 12"/>
          <p:cNvSpPr txBox="1"/>
          <p:nvPr/>
        </p:nvSpPr>
        <p:spPr>
          <a:xfrm>
            <a:off x="6519672" y="3931920"/>
            <a:ext cx="4937760" cy="365760"/>
          </a:xfrm>
          <a:prstGeom prst="rect">
            <a:avLst/>
          </a:prstGeom>
          <a:noFill/>
        </p:spPr>
        <p:txBody>
          <a:bodyPr wrap="square" lIns="0" tIns="0" rIns="0" bIns="0" anchor="t">
            <a:spAutoFit/>
          </a:bodyPr>
          <a:lstStyle/>
          <a:p>
            <a:pPr algn="l"/>
            <a:r>
              <a:rPr sz="1200" b="1">
                <a:solidFill>
                  <a:srgbClr val="2563EB"/>
                </a:solidFill>
                <a:latin typeface="Calibri"/>
              </a:rPr>
              <a:t>Their claim</a:t>
            </a:r>
          </a:p>
        </p:txBody>
      </p:sp>
      <p:sp>
        <p:nvSpPr>
          <p:cNvPr id="14" name="TextBox 13"/>
          <p:cNvSpPr txBox="1"/>
          <p:nvPr/>
        </p:nvSpPr>
        <p:spPr>
          <a:xfrm>
            <a:off x="6519672" y="4251960"/>
            <a:ext cx="4937760" cy="1371600"/>
          </a:xfrm>
          <a:prstGeom prst="rect">
            <a:avLst/>
          </a:prstGeom>
          <a:noFill/>
        </p:spPr>
        <p:txBody>
          <a:bodyPr wrap="square" lIns="0" tIns="0" rIns="0" bIns="0" anchor="t">
            <a:spAutoFit/>
          </a:bodyPr>
          <a:lstStyle/>
          <a:p>
            <a:pPr algn="l"/>
            <a:r>
              <a:rPr sz="1300" b="0">
                <a:solidFill>
                  <a:srgbClr val="0F294B"/>
                </a:solidFill>
                <a:latin typeface="Calibri"/>
              </a:rPr>
              <a:t>Replace reward-engineered safety penalties with a hard cost constraint (CMDP).  Lagrangian PPO then auto-tunes the safety/utility trade-off.</a:t>
            </a:r>
          </a:p>
        </p:txBody>
      </p:sp>
      <p:sp>
        <p:nvSpPr>
          <p:cNvPr id="15" name="TextBox 14"/>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What we actually built</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3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500" b="0">
                <a:solidFill>
                  <a:srgbClr val="64748B"/>
                </a:solidFill>
                <a:latin typeface="Calibri"/>
              </a:rPr>
              <a:t>Two paper-code bug fixes, one design insight, one full benchmark suite.</a:t>
            </a:r>
          </a:p>
        </p:txBody>
      </p:sp>
      <p:sp>
        <p:nvSpPr>
          <p:cNvPr id="6" name="Rounded Rectangle 5"/>
          <p:cNvSpPr/>
          <p:nvPr/>
        </p:nvSpPr>
        <p:spPr>
          <a:xfrm>
            <a:off x="457200" y="1417320"/>
            <a:ext cx="5486400" cy="26517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7200" y="1417320"/>
            <a:ext cx="109728" cy="2651760"/>
          </a:xfrm>
          <a:prstGeom prst="round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554480"/>
            <a:ext cx="5120640" cy="365760"/>
          </a:xfrm>
          <a:prstGeom prst="rect">
            <a:avLst/>
          </a:prstGeom>
          <a:noFill/>
        </p:spPr>
        <p:txBody>
          <a:bodyPr wrap="square" lIns="0" tIns="0" rIns="0" bIns="0" anchor="t">
            <a:spAutoFit/>
          </a:bodyPr>
          <a:lstStyle/>
          <a:p>
            <a:pPr algn="l"/>
            <a:r>
              <a:rPr sz="1400" b="1">
                <a:solidFill>
                  <a:srgbClr val="DC2626"/>
                </a:solidFill>
                <a:latin typeface="Calibri"/>
              </a:rPr>
              <a:t>Bug fix #1:  CostWrapper</a:t>
            </a:r>
          </a:p>
        </p:txBody>
      </p:sp>
      <p:sp>
        <p:nvSpPr>
          <p:cNvPr id="9" name="TextBox 8"/>
          <p:cNvSpPr txBox="1"/>
          <p:nvPr/>
        </p:nvSpPr>
        <p:spPr>
          <a:xfrm>
            <a:off x="731520" y="2011680"/>
            <a:ext cx="5029200" cy="1874520"/>
          </a:xfrm>
          <a:prstGeom prst="rect">
            <a:avLst/>
          </a:prstGeom>
          <a:noFill/>
        </p:spPr>
        <p:txBody>
          <a:bodyPr wrap="square" lIns="0" tIns="0" rIns="0" bIns="0" anchor="t">
            <a:spAutoFit/>
          </a:bodyPr>
          <a:lstStyle/>
          <a:p>
            <a:pPr algn="l"/>
            <a:r>
              <a:rPr sz="1200" b="0">
                <a:solidFill>
                  <a:srgbClr val="0F294B"/>
                </a:solidFill>
                <a:latin typeface="Calibri"/>
              </a:rPr>
              <a:t>The paper's open-source code reads info['cost'], but highway-env emits info['crashed'].  Cost was always 0 → Lagrangian was never triggered.
We added a Gym wrapper that rewrites crashed → cost.</a:t>
            </a:r>
          </a:p>
        </p:txBody>
      </p:sp>
      <p:sp>
        <p:nvSpPr>
          <p:cNvPr id="10" name="Rounded Rectangle 9"/>
          <p:cNvSpPr/>
          <p:nvPr/>
        </p:nvSpPr>
        <p:spPr>
          <a:xfrm>
            <a:off x="6263640" y="1417320"/>
            <a:ext cx="5486400" cy="26517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263640" y="1417320"/>
            <a:ext cx="109728" cy="26517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37960" y="1554480"/>
            <a:ext cx="5120640" cy="365760"/>
          </a:xfrm>
          <a:prstGeom prst="rect">
            <a:avLst/>
          </a:prstGeom>
          <a:noFill/>
        </p:spPr>
        <p:txBody>
          <a:bodyPr wrap="square" lIns="0" tIns="0" rIns="0" bIns="0" anchor="t">
            <a:spAutoFit/>
          </a:bodyPr>
          <a:lstStyle/>
          <a:p>
            <a:pPr algn="l"/>
            <a:r>
              <a:rPr sz="1400" b="1">
                <a:solidFill>
                  <a:srgbClr val="16A34A"/>
                </a:solidFill>
                <a:latin typeface="Calibri"/>
              </a:rPr>
              <a:t>Design insight:  decouple reward &amp; cost</a:t>
            </a:r>
          </a:p>
        </p:txBody>
      </p:sp>
      <p:sp>
        <p:nvSpPr>
          <p:cNvPr id="13" name="TextBox 12"/>
          <p:cNvSpPr txBox="1"/>
          <p:nvPr/>
        </p:nvSpPr>
        <p:spPr>
          <a:xfrm>
            <a:off x="6537960" y="2011680"/>
            <a:ext cx="5029200" cy="1874520"/>
          </a:xfrm>
          <a:prstGeom prst="rect">
            <a:avLst/>
          </a:prstGeom>
          <a:noFill/>
        </p:spPr>
        <p:txBody>
          <a:bodyPr wrap="square" lIns="0" tIns="0" rIns="0" bIns="0" anchor="t">
            <a:spAutoFit/>
          </a:bodyPr>
          <a:lstStyle/>
          <a:p>
            <a:pPr algn="l"/>
            <a:r>
              <a:rPr sz="1200" b="0">
                <a:solidFill>
                  <a:srgbClr val="0F294B"/>
                </a:solidFill>
                <a:latin typeface="Calibri"/>
              </a:rPr>
              <a:t>highway-env's default reward already subtracts a collision penalty.  PPO learns to avoid crashes anyway — making the constraint redundant.
We set collision_reward = 0 so safety is enforced ONLY by the cost constraint.  This is what unlocks the 40 → 9 % gap.</a:t>
            </a:r>
          </a:p>
        </p:txBody>
      </p:sp>
      <p:sp>
        <p:nvSpPr>
          <p:cNvPr id="14" name="Rounded Rectangle 13"/>
          <p:cNvSpPr/>
          <p:nvPr/>
        </p:nvSpPr>
        <p:spPr>
          <a:xfrm>
            <a:off x="457200" y="4114800"/>
            <a:ext cx="5486400" cy="26517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 y="4114800"/>
            <a:ext cx="109728" cy="2651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4251960"/>
            <a:ext cx="5120640" cy="365760"/>
          </a:xfrm>
          <a:prstGeom prst="rect">
            <a:avLst/>
          </a:prstGeom>
          <a:noFill/>
        </p:spPr>
        <p:txBody>
          <a:bodyPr wrap="square" lIns="0" tIns="0" rIns="0" bIns="0" anchor="t">
            <a:spAutoFit/>
          </a:bodyPr>
          <a:lstStyle/>
          <a:p>
            <a:pPr algn="l"/>
            <a:r>
              <a:rPr sz="1400" b="1">
                <a:solidFill>
                  <a:srgbClr val="2563EB"/>
                </a:solidFill>
                <a:latin typeface="Calibri"/>
              </a:rPr>
              <a:t>Discrete-action adaptation</a:t>
            </a:r>
          </a:p>
        </p:txBody>
      </p:sp>
      <p:sp>
        <p:nvSpPr>
          <p:cNvPr id="17" name="TextBox 16"/>
          <p:cNvSpPr txBox="1"/>
          <p:nvPr/>
        </p:nvSpPr>
        <p:spPr>
          <a:xfrm>
            <a:off x="731520" y="4709160"/>
            <a:ext cx="5029200" cy="1874520"/>
          </a:xfrm>
          <a:prstGeom prst="rect">
            <a:avLst/>
          </a:prstGeom>
          <a:noFill/>
        </p:spPr>
        <p:txBody>
          <a:bodyPr wrap="square" lIns="0" tIns="0" rIns="0" bIns="0" anchor="t">
            <a:spAutoFit/>
          </a:bodyPr>
          <a:lstStyle/>
          <a:p>
            <a:pPr algn="l"/>
            <a:r>
              <a:rPr sz="1200" b="0" dirty="0">
                <a:solidFill>
                  <a:srgbClr val="0F294B"/>
                </a:solidFill>
                <a:latin typeface="Calibri"/>
              </a:rPr>
              <a:t>FSRL's </a:t>
            </a:r>
            <a:r>
              <a:rPr sz="1200" b="0" dirty="0" err="1">
                <a:solidFill>
                  <a:srgbClr val="0F294B"/>
                </a:solidFill>
                <a:latin typeface="Calibri"/>
              </a:rPr>
              <a:t>PPOLag</a:t>
            </a:r>
            <a:r>
              <a:rPr sz="1200" b="0" dirty="0">
                <a:solidFill>
                  <a:srgbClr val="0F294B"/>
                </a:solidFill>
                <a:latin typeface="Calibri"/>
              </a:rPr>
              <a:t> and CPO ship with Gaussian actors (continuous).  highway-env uses 5 discrete meta-actions.  We wrote a Categorical actor, dual-critic, and a discrete-aware </a:t>
            </a:r>
            <a:r>
              <a:rPr sz="1200" b="0" dirty="0" err="1">
                <a:solidFill>
                  <a:srgbClr val="0F294B"/>
                </a:solidFill>
                <a:latin typeface="Calibri"/>
              </a:rPr>
              <a:t>FastCollector</a:t>
            </a:r>
            <a:r>
              <a:rPr sz="1200" b="0" dirty="0">
                <a:solidFill>
                  <a:srgbClr val="0F294B"/>
                </a:solidFill>
                <a:latin typeface="Calibri"/>
              </a:rPr>
              <a:t> path.</a:t>
            </a:r>
          </a:p>
        </p:txBody>
      </p:sp>
      <p:sp>
        <p:nvSpPr>
          <p:cNvPr id="18" name="Rounded Rectangle 17"/>
          <p:cNvSpPr/>
          <p:nvPr/>
        </p:nvSpPr>
        <p:spPr>
          <a:xfrm>
            <a:off x="6263640" y="4114800"/>
            <a:ext cx="5486400" cy="26517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263640" y="4114800"/>
            <a:ext cx="109728" cy="2651760"/>
          </a:xfrm>
          <a:prstGeom prst="roundRect">
            <a:avLst/>
          </a:prstGeom>
          <a:solidFill>
            <a:srgbClr val="0F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37960" y="4251960"/>
            <a:ext cx="5120640" cy="365760"/>
          </a:xfrm>
          <a:prstGeom prst="rect">
            <a:avLst/>
          </a:prstGeom>
          <a:noFill/>
        </p:spPr>
        <p:txBody>
          <a:bodyPr wrap="square" lIns="0" tIns="0" rIns="0" bIns="0" anchor="t">
            <a:spAutoFit/>
          </a:bodyPr>
          <a:lstStyle/>
          <a:p>
            <a:pPr algn="l"/>
            <a:r>
              <a:rPr sz="1400" b="1">
                <a:solidFill>
                  <a:srgbClr val="0F294B"/>
                </a:solidFill>
                <a:latin typeface="Calibri"/>
              </a:rPr>
              <a:t>Experiment harness</a:t>
            </a:r>
          </a:p>
        </p:txBody>
      </p:sp>
      <p:sp>
        <p:nvSpPr>
          <p:cNvPr id="21" name="TextBox 20"/>
          <p:cNvSpPr txBox="1"/>
          <p:nvPr/>
        </p:nvSpPr>
        <p:spPr>
          <a:xfrm>
            <a:off x="6537960" y="4709160"/>
            <a:ext cx="5029200" cy="1874520"/>
          </a:xfrm>
          <a:prstGeom prst="rect">
            <a:avLst/>
          </a:prstGeom>
          <a:noFill/>
        </p:spPr>
        <p:txBody>
          <a:bodyPr wrap="square" lIns="0" tIns="0" rIns="0" bIns="0" anchor="t">
            <a:spAutoFit/>
          </a:bodyPr>
          <a:lstStyle/>
          <a:p>
            <a:pPr algn="l"/>
            <a:r>
              <a:rPr sz="1200" b="0">
                <a:solidFill>
                  <a:srgbClr val="0F294B"/>
                </a:solidFill>
                <a:latin typeface="Calibri"/>
              </a:rPr>
              <a:t>saferl_suite.py + run_roadmap.py drive a 4 env × 3 algo × 2 seed sweep with multi-seed CIs and Welch t-tests.
≈ 1,500 LoC · 40 runs · 11 iteration cycles.</a:t>
            </a:r>
          </a:p>
        </p:txBody>
      </p:sp>
      <p:sp>
        <p:nvSpPr>
          <p:cNvPr id="22" name="TextBox 21"/>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Why constrained RL — and why d = 0.1</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4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500" b="0">
                <a:solidFill>
                  <a:srgbClr val="64748B"/>
                </a:solidFill>
                <a:latin typeface="Calibri"/>
              </a:rPr>
              <a:t>The paper's framing, with the concrete hyperparameter we used.</a:t>
            </a:r>
          </a:p>
        </p:txBody>
      </p:sp>
      <p:sp>
        <p:nvSpPr>
          <p:cNvPr id="6" name="Rounded Rectangle 5"/>
          <p:cNvSpPr/>
          <p:nvPr/>
        </p:nvSpPr>
        <p:spPr>
          <a:xfrm>
            <a:off x="457200" y="1417320"/>
            <a:ext cx="5486400" cy="40233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54480"/>
            <a:ext cx="4937760" cy="365760"/>
          </a:xfrm>
          <a:prstGeom prst="rect">
            <a:avLst/>
          </a:prstGeom>
          <a:noFill/>
        </p:spPr>
        <p:txBody>
          <a:bodyPr wrap="square" lIns="0" tIns="0" rIns="0" bIns="0" anchor="t">
            <a:spAutoFit/>
          </a:bodyPr>
          <a:lstStyle/>
          <a:p>
            <a:pPr algn="l"/>
            <a:r>
              <a:rPr sz="1400" b="1">
                <a:solidFill>
                  <a:srgbClr val="DC2626"/>
                </a:solidFill>
                <a:latin typeface="Calibri"/>
              </a:rPr>
              <a:t>Reward shaping  (the old way)</a:t>
            </a:r>
          </a:p>
        </p:txBody>
      </p:sp>
      <p:sp>
        <p:nvSpPr>
          <p:cNvPr id="8" name="TextBox 7"/>
          <p:cNvSpPr txBox="1"/>
          <p:nvPr/>
        </p:nvSpPr>
        <p:spPr>
          <a:xfrm>
            <a:off x="731520" y="2057400"/>
            <a:ext cx="4937760" cy="548640"/>
          </a:xfrm>
          <a:prstGeom prst="rect">
            <a:avLst/>
          </a:prstGeom>
          <a:noFill/>
        </p:spPr>
        <p:txBody>
          <a:bodyPr wrap="square" lIns="0" tIns="0" rIns="0" bIns="0" anchor="t">
            <a:spAutoFit/>
          </a:bodyPr>
          <a:lstStyle/>
          <a:p>
            <a:pPr algn="l"/>
            <a:r>
              <a:rPr sz="1400" b="1">
                <a:solidFill>
                  <a:srgbClr val="0F294B"/>
                </a:solidFill>
                <a:latin typeface="Consolas"/>
              </a:rPr>
              <a:t>rₜ  =  utility(sₜ, aₜ)  −  λ · risk(sₜ, aₜ)</a:t>
            </a:r>
          </a:p>
        </p:txBody>
      </p:sp>
      <p:sp>
        <p:nvSpPr>
          <p:cNvPr id="9" name="TextBox 8"/>
          <p:cNvSpPr txBox="1"/>
          <p:nvPr/>
        </p:nvSpPr>
        <p:spPr>
          <a:xfrm>
            <a:off x="731520" y="2880360"/>
            <a:ext cx="4937760" cy="2377440"/>
          </a:xfrm>
          <a:prstGeom prst="rect">
            <a:avLst/>
          </a:prstGeom>
          <a:noFill/>
        </p:spPr>
        <p:txBody>
          <a:bodyPr wrap="square" lIns="0" tIns="0" rIns="0" bIns="0">
            <a:spAutoFit/>
          </a:bodyPr>
          <a:lstStyle/>
          <a:p>
            <a:pPr algn="l">
              <a:lnSpc>
                <a:spcPct val="130000"/>
              </a:lnSpc>
              <a:spcAft>
                <a:spcPts val="400"/>
              </a:spcAft>
            </a:pPr>
            <a:r>
              <a:rPr sz="1300" b="1">
                <a:solidFill>
                  <a:srgbClr val="64748B"/>
                </a:solidFill>
                <a:latin typeface="Calibri"/>
              </a:rPr>
              <a:t>•  </a:t>
            </a:r>
            <a:r>
              <a:rPr sz="1300">
                <a:solidFill>
                  <a:srgbClr val="0F294B"/>
                </a:solidFill>
                <a:latin typeface="Calibri"/>
              </a:rPr>
              <a:t>λ is a hand-tuned scalar</a:t>
            </a:r>
          </a:p>
          <a:p>
            <a:pPr algn="l">
              <a:lnSpc>
                <a:spcPct val="130000"/>
              </a:lnSpc>
              <a:spcAft>
                <a:spcPts val="400"/>
              </a:spcAft>
            </a:pPr>
            <a:r>
              <a:rPr sz="1300" b="1">
                <a:solidFill>
                  <a:srgbClr val="64748B"/>
                </a:solidFill>
                <a:latin typeface="Calibri"/>
              </a:rPr>
              <a:t>•  </a:t>
            </a:r>
            <a:r>
              <a:rPr sz="1300">
                <a:solidFill>
                  <a:srgbClr val="0F294B"/>
                </a:solidFill>
                <a:latin typeface="Calibri"/>
              </a:rPr>
              <a:t>Optimal λ depends on traffic density, driver behavior…</a:t>
            </a:r>
          </a:p>
          <a:p>
            <a:pPr algn="l">
              <a:lnSpc>
                <a:spcPct val="130000"/>
              </a:lnSpc>
              <a:spcAft>
                <a:spcPts val="400"/>
              </a:spcAft>
            </a:pPr>
            <a:r>
              <a:rPr sz="1300" b="1">
                <a:solidFill>
                  <a:srgbClr val="64748B"/>
                </a:solidFill>
                <a:latin typeface="Calibri"/>
              </a:rPr>
              <a:t>•  </a:t>
            </a:r>
            <a:r>
              <a:rPr sz="1300">
                <a:solidFill>
                  <a:srgbClr val="0F294B"/>
                </a:solidFill>
                <a:latin typeface="Calibri"/>
              </a:rPr>
              <a:t>No explicit safety guarantee — just hope λ is big enough</a:t>
            </a:r>
          </a:p>
        </p:txBody>
      </p:sp>
      <p:sp>
        <p:nvSpPr>
          <p:cNvPr id="10" name="Rounded Rectangle 9"/>
          <p:cNvSpPr/>
          <p:nvPr/>
        </p:nvSpPr>
        <p:spPr>
          <a:xfrm>
            <a:off x="6245352" y="1417320"/>
            <a:ext cx="5486400" cy="40233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19672" y="1554480"/>
            <a:ext cx="4937760" cy="365760"/>
          </a:xfrm>
          <a:prstGeom prst="rect">
            <a:avLst/>
          </a:prstGeom>
          <a:noFill/>
        </p:spPr>
        <p:txBody>
          <a:bodyPr wrap="square" lIns="0" tIns="0" rIns="0" bIns="0" anchor="t">
            <a:spAutoFit/>
          </a:bodyPr>
          <a:lstStyle/>
          <a:p>
            <a:pPr algn="l"/>
            <a:r>
              <a:rPr sz="1400" b="1">
                <a:solidFill>
                  <a:srgbClr val="16A34A"/>
                </a:solidFill>
                <a:latin typeface="Calibri"/>
              </a:rPr>
              <a:t>CMDP  (the paper's proposal)</a:t>
            </a:r>
          </a:p>
        </p:txBody>
      </p:sp>
      <p:sp>
        <p:nvSpPr>
          <p:cNvPr id="12" name="TextBox 11"/>
          <p:cNvSpPr txBox="1"/>
          <p:nvPr/>
        </p:nvSpPr>
        <p:spPr>
          <a:xfrm>
            <a:off x="6519672" y="2057400"/>
            <a:ext cx="4937760" cy="502920"/>
          </a:xfrm>
          <a:prstGeom prst="rect">
            <a:avLst/>
          </a:prstGeom>
          <a:noFill/>
        </p:spPr>
        <p:txBody>
          <a:bodyPr wrap="square" lIns="0" tIns="0" rIns="0" bIns="0" anchor="t">
            <a:spAutoFit/>
          </a:bodyPr>
          <a:lstStyle/>
          <a:p>
            <a:pPr algn="l"/>
            <a:r>
              <a:rPr sz="1400" b="1">
                <a:solidFill>
                  <a:srgbClr val="0F294B"/>
                </a:solidFill>
                <a:latin typeface="Consolas"/>
              </a:rPr>
              <a:t>max  E[Σ rₜ]    s.t.    E[Σ cₜ]  ≤  d</a:t>
            </a:r>
          </a:p>
        </p:txBody>
      </p:sp>
      <p:sp>
        <p:nvSpPr>
          <p:cNvPr id="13" name="TextBox 12"/>
          <p:cNvSpPr txBox="1"/>
          <p:nvPr/>
        </p:nvSpPr>
        <p:spPr>
          <a:xfrm>
            <a:off x="6519672" y="2514600"/>
            <a:ext cx="4937760" cy="411480"/>
          </a:xfrm>
          <a:prstGeom prst="rect">
            <a:avLst/>
          </a:prstGeom>
          <a:noFill/>
        </p:spPr>
        <p:txBody>
          <a:bodyPr wrap="square" lIns="0" tIns="0" rIns="0" bIns="0" anchor="t">
            <a:spAutoFit/>
          </a:bodyPr>
          <a:lstStyle/>
          <a:p>
            <a:pPr algn="l"/>
            <a:r>
              <a:rPr sz="1300" b="0">
                <a:solidFill>
                  <a:srgbClr val="0F294B"/>
                </a:solidFill>
                <a:latin typeface="Consolas"/>
              </a:rPr>
              <a:t>cost cₜ  =  1  if crashed else 0       d  =  0.1</a:t>
            </a:r>
          </a:p>
        </p:txBody>
      </p:sp>
      <p:sp>
        <p:nvSpPr>
          <p:cNvPr id="14" name="TextBox 13"/>
          <p:cNvSpPr txBox="1"/>
          <p:nvPr/>
        </p:nvSpPr>
        <p:spPr>
          <a:xfrm>
            <a:off x="6519672" y="3108960"/>
            <a:ext cx="4937760" cy="2194560"/>
          </a:xfrm>
          <a:prstGeom prst="rect">
            <a:avLst/>
          </a:prstGeom>
          <a:noFill/>
        </p:spPr>
        <p:txBody>
          <a:bodyPr wrap="square" lIns="0" tIns="0" rIns="0" bIns="0">
            <a:spAutoFit/>
          </a:bodyPr>
          <a:lstStyle/>
          <a:p>
            <a:pPr algn="l">
              <a:lnSpc>
                <a:spcPct val="130000"/>
              </a:lnSpc>
              <a:spcAft>
                <a:spcPts val="400"/>
              </a:spcAft>
            </a:pPr>
            <a:r>
              <a:rPr sz="1300" b="1">
                <a:solidFill>
                  <a:srgbClr val="64748B"/>
                </a:solidFill>
                <a:latin typeface="Calibri"/>
              </a:rPr>
              <a:t>•  </a:t>
            </a:r>
            <a:r>
              <a:rPr sz="1300">
                <a:solidFill>
                  <a:srgbClr val="0F294B"/>
                </a:solidFill>
                <a:latin typeface="Calibri"/>
              </a:rPr>
              <a:t>Reward and cost are separate channels</a:t>
            </a:r>
          </a:p>
          <a:p>
            <a:pPr algn="l">
              <a:lnSpc>
                <a:spcPct val="130000"/>
              </a:lnSpc>
              <a:spcAft>
                <a:spcPts val="400"/>
              </a:spcAft>
            </a:pPr>
            <a:r>
              <a:rPr sz="1300" b="1">
                <a:solidFill>
                  <a:srgbClr val="64748B"/>
                </a:solidFill>
                <a:latin typeface="Calibri"/>
              </a:rPr>
              <a:t>•  </a:t>
            </a:r>
            <a:r>
              <a:rPr sz="1300">
                <a:solidFill>
                  <a:srgbClr val="0F294B"/>
                </a:solidFill>
                <a:latin typeface="Calibri"/>
              </a:rPr>
              <a:t>PPO-Lagrangian uses a PID controller on λ — λ adapts online</a:t>
            </a:r>
          </a:p>
          <a:p>
            <a:pPr algn="l">
              <a:lnSpc>
                <a:spcPct val="130000"/>
              </a:lnSpc>
              <a:spcAft>
                <a:spcPts val="400"/>
              </a:spcAft>
            </a:pPr>
            <a:r>
              <a:rPr sz="1300" b="1">
                <a:solidFill>
                  <a:srgbClr val="64748B"/>
                </a:solidFill>
                <a:latin typeface="Calibri"/>
              </a:rPr>
              <a:t>•  </a:t>
            </a:r>
            <a:r>
              <a:rPr sz="1300">
                <a:solidFill>
                  <a:srgbClr val="0F294B"/>
                </a:solidFill>
                <a:latin typeface="Calibri"/>
              </a:rPr>
              <a:t>"≤ 10 % crash rate" is interpretable;  λ is not</a:t>
            </a:r>
          </a:p>
        </p:txBody>
      </p:sp>
      <p:sp>
        <p:nvSpPr>
          <p:cNvPr id="15" name="Rounded Rectangle 14"/>
          <p:cNvSpPr/>
          <p:nvPr/>
        </p:nvSpPr>
        <p:spPr>
          <a:xfrm>
            <a:off x="457200" y="5669280"/>
            <a:ext cx="11274552" cy="640080"/>
          </a:xfrm>
          <a:prstGeom prst="roundRect">
            <a:avLst/>
          </a:prstGeom>
          <a:solidFill>
            <a:srgbClr val="0F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5779008"/>
            <a:ext cx="10698480" cy="457200"/>
          </a:xfrm>
          <a:prstGeom prst="rect">
            <a:avLst/>
          </a:prstGeom>
          <a:noFill/>
        </p:spPr>
        <p:txBody>
          <a:bodyPr wrap="square" lIns="0" tIns="0" rIns="0" bIns="0" anchor="t">
            <a:spAutoFit/>
          </a:bodyPr>
          <a:lstStyle/>
          <a:p>
            <a:pPr algn="ctr"/>
            <a:r>
              <a:rPr sz="1200" b="0">
                <a:solidFill>
                  <a:srgbClr val="FFFFFF"/>
                </a:solidFill>
                <a:latin typeface="Calibri"/>
              </a:rPr>
              <a:t>Cost limit  d = 0.1  ·  PID gains (10, 1, 1)  ·  policy LR 3e-4 · value LR 1e-3 · 20 epochs × 4,000 steps · 100 eval episodes</a:t>
            </a:r>
          </a:p>
        </p:txBody>
      </p:sp>
      <p:sp>
        <p:nvSpPr>
          <p:cNvPr id="17" name="TextBox 16"/>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Why our  collision_reward = 0  matters</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5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500" b="0">
                <a:solidFill>
                  <a:srgbClr val="64748B"/>
                </a:solidFill>
                <a:latin typeface="Calibri"/>
              </a:rPr>
              <a:t>Without decoupling, PPOLag has nothing to learn.  This is the most important plot in this deck.</a:t>
            </a:r>
          </a:p>
        </p:txBody>
      </p:sp>
      <p:pic>
        <p:nvPicPr>
          <p:cNvPr id="6" name="Picture 5" descr="ablation_decoupled.png"/>
          <p:cNvPicPr>
            <a:picLocks noChangeAspect="1"/>
          </p:cNvPicPr>
          <p:nvPr/>
        </p:nvPicPr>
        <p:blipFill>
          <a:blip r:embed="rId3"/>
          <a:stretch>
            <a:fillRect/>
          </a:stretch>
        </p:blipFill>
        <p:spPr>
          <a:xfrm>
            <a:off x="640080" y="1417320"/>
            <a:ext cx="6766560" cy="3472650"/>
          </a:xfrm>
          <a:prstGeom prst="rect">
            <a:avLst/>
          </a:prstGeom>
        </p:spPr>
      </p:pic>
      <p:sp>
        <p:nvSpPr>
          <p:cNvPr id="7" name="Rounded Rectangle 6"/>
          <p:cNvSpPr/>
          <p:nvPr/>
        </p:nvSpPr>
        <p:spPr>
          <a:xfrm>
            <a:off x="7726679" y="1417320"/>
            <a:ext cx="402336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55279" y="1554480"/>
            <a:ext cx="3657600" cy="365760"/>
          </a:xfrm>
          <a:prstGeom prst="rect">
            <a:avLst/>
          </a:prstGeom>
          <a:noFill/>
        </p:spPr>
        <p:txBody>
          <a:bodyPr wrap="square" lIns="0" tIns="0" rIns="0" bIns="0" anchor="t">
            <a:spAutoFit/>
          </a:bodyPr>
          <a:lstStyle/>
          <a:p>
            <a:pPr algn="l"/>
            <a:r>
              <a:rPr sz="1300" b="1">
                <a:solidFill>
                  <a:srgbClr val="2563EB"/>
                </a:solidFill>
                <a:latin typeface="Calibri"/>
              </a:rPr>
              <a:t>Reading this plot</a:t>
            </a:r>
          </a:p>
        </p:txBody>
      </p:sp>
      <p:sp>
        <p:nvSpPr>
          <p:cNvPr id="9" name="TextBox 8"/>
          <p:cNvSpPr txBox="1"/>
          <p:nvPr/>
        </p:nvSpPr>
        <p:spPr>
          <a:xfrm>
            <a:off x="7955279" y="1965960"/>
            <a:ext cx="3657600" cy="320040"/>
          </a:xfrm>
          <a:prstGeom prst="rect">
            <a:avLst/>
          </a:prstGeom>
          <a:noFill/>
        </p:spPr>
        <p:txBody>
          <a:bodyPr wrap="square" lIns="0" tIns="0" rIns="0" bIns="0" anchor="t">
            <a:spAutoFit/>
          </a:bodyPr>
          <a:lstStyle/>
          <a:p>
            <a:pPr algn="l"/>
            <a:r>
              <a:rPr sz="1200" b="1">
                <a:solidFill>
                  <a:srgbClr val="0F294B"/>
                </a:solidFill>
                <a:latin typeface="Calibri"/>
              </a:rPr>
              <a:t>Left:</a:t>
            </a:r>
          </a:p>
        </p:txBody>
      </p:sp>
      <p:sp>
        <p:nvSpPr>
          <p:cNvPr id="10" name="TextBox 9"/>
          <p:cNvSpPr txBox="1"/>
          <p:nvPr/>
        </p:nvSpPr>
        <p:spPr>
          <a:xfrm>
            <a:off x="7955279" y="2258568"/>
            <a:ext cx="3657600" cy="1280160"/>
          </a:xfrm>
          <a:prstGeom prst="rect">
            <a:avLst/>
          </a:prstGeom>
          <a:noFill/>
        </p:spPr>
        <p:txBody>
          <a:bodyPr wrap="square" lIns="0" tIns="0" rIns="0" bIns="0" anchor="t">
            <a:spAutoFit/>
          </a:bodyPr>
          <a:lstStyle/>
          <a:p>
            <a:pPr algn="l"/>
            <a:r>
              <a:rPr sz="1100" b="0">
                <a:solidFill>
                  <a:srgbClr val="0F294B"/>
                </a:solidFill>
                <a:latin typeface="Calibri"/>
              </a:rPr>
              <a:t>When reward already penalizes crashes, PPO crashes ~5 % anyway. PPOLag matches it.  No measurable gain from the constraint.</a:t>
            </a:r>
          </a:p>
        </p:txBody>
      </p:sp>
      <p:sp>
        <p:nvSpPr>
          <p:cNvPr id="11" name="TextBox 10"/>
          <p:cNvSpPr txBox="1"/>
          <p:nvPr/>
        </p:nvSpPr>
        <p:spPr>
          <a:xfrm>
            <a:off x="7955279" y="3264408"/>
            <a:ext cx="3657600" cy="320040"/>
          </a:xfrm>
          <a:prstGeom prst="rect">
            <a:avLst/>
          </a:prstGeom>
          <a:noFill/>
        </p:spPr>
        <p:txBody>
          <a:bodyPr wrap="square" lIns="0" tIns="0" rIns="0" bIns="0" anchor="t">
            <a:spAutoFit/>
          </a:bodyPr>
          <a:lstStyle/>
          <a:p>
            <a:pPr algn="l"/>
            <a:r>
              <a:rPr sz="1200" b="1">
                <a:solidFill>
                  <a:srgbClr val="0F294B"/>
                </a:solidFill>
                <a:latin typeface="Calibri"/>
              </a:rPr>
              <a:t>Right:</a:t>
            </a:r>
          </a:p>
        </p:txBody>
      </p:sp>
      <p:sp>
        <p:nvSpPr>
          <p:cNvPr id="12" name="TextBox 11"/>
          <p:cNvSpPr txBox="1"/>
          <p:nvPr/>
        </p:nvSpPr>
        <p:spPr>
          <a:xfrm>
            <a:off x="7955279" y="3557016"/>
            <a:ext cx="3657600" cy="1280160"/>
          </a:xfrm>
          <a:prstGeom prst="rect">
            <a:avLst/>
          </a:prstGeom>
          <a:noFill/>
        </p:spPr>
        <p:txBody>
          <a:bodyPr wrap="square" lIns="0" tIns="0" rIns="0" bIns="0" anchor="t">
            <a:spAutoFit/>
          </a:bodyPr>
          <a:lstStyle/>
          <a:p>
            <a:pPr algn="l"/>
            <a:r>
              <a:rPr sz="1100" b="0">
                <a:solidFill>
                  <a:srgbClr val="0F294B"/>
                </a:solidFill>
                <a:latin typeface="Calibri"/>
              </a:rPr>
              <a:t>When we set collision_reward = 0, PPO has no reason to avoid crashes → 40 %.  PPOLag, forced to satisfy d = 0.1, lands at 9 %.</a:t>
            </a:r>
          </a:p>
        </p:txBody>
      </p:sp>
      <p:sp>
        <p:nvSpPr>
          <p:cNvPr id="13" name="TextBox 12"/>
          <p:cNvSpPr txBox="1"/>
          <p:nvPr/>
        </p:nvSpPr>
        <p:spPr>
          <a:xfrm>
            <a:off x="7955279" y="4562856"/>
            <a:ext cx="3657600" cy="320040"/>
          </a:xfrm>
          <a:prstGeom prst="rect">
            <a:avLst/>
          </a:prstGeom>
          <a:noFill/>
        </p:spPr>
        <p:txBody>
          <a:bodyPr wrap="square" lIns="0" tIns="0" rIns="0" bIns="0" anchor="t">
            <a:spAutoFit/>
          </a:bodyPr>
          <a:lstStyle/>
          <a:p>
            <a:pPr algn="l"/>
            <a:r>
              <a:rPr sz="1200" b="1">
                <a:solidFill>
                  <a:srgbClr val="0F294B"/>
                </a:solidFill>
                <a:latin typeface="Calibri"/>
              </a:rPr>
              <a:t>Take-away:</a:t>
            </a:r>
          </a:p>
        </p:txBody>
      </p:sp>
      <p:sp>
        <p:nvSpPr>
          <p:cNvPr id="14" name="TextBox 13"/>
          <p:cNvSpPr txBox="1"/>
          <p:nvPr/>
        </p:nvSpPr>
        <p:spPr>
          <a:xfrm>
            <a:off x="7955279" y="4855464"/>
            <a:ext cx="3657600" cy="1280160"/>
          </a:xfrm>
          <a:prstGeom prst="rect">
            <a:avLst/>
          </a:prstGeom>
          <a:noFill/>
        </p:spPr>
        <p:txBody>
          <a:bodyPr wrap="square" lIns="0" tIns="0" rIns="0" bIns="0" anchor="t">
            <a:spAutoFit/>
          </a:bodyPr>
          <a:lstStyle/>
          <a:p>
            <a:pPr algn="l"/>
            <a:r>
              <a:rPr sz="1100" b="0">
                <a:solidFill>
                  <a:srgbClr val="0F294B"/>
                </a:solidFill>
                <a:latin typeface="Calibri"/>
              </a:rPr>
              <a:t>The CMDP framework only shows its value if the reward signal is reward-only.  The original paper's open code left this implicit; we made it explicit.</a:t>
            </a:r>
          </a:p>
        </p:txBody>
      </p:sp>
      <p:sp>
        <p:nvSpPr>
          <p:cNvPr id="15" name="TextBox 14"/>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Replication on merge-v0:  40 % → 9 %</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6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20 epochs × 4,000 steps · 100 eval episodes · seed 42 · cost limit d = 0.1.</a:t>
            </a:r>
          </a:p>
        </p:txBody>
      </p:sp>
      <p:pic>
        <p:nvPicPr>
          <p:cNvPr id="6" name="Picture 5" descr="ppo_vs_ppolag.png"/>
          <p:cNvPicPr>
            <a:picLocks noChangeAspect="1"/>
          </p:cNvPicPr>
          <p:nvPr/>
        </p:nvPicPr>
        <p:blipFill>
          <a:blip r:embed="rId3"/>
          <a:stretch>
            <a:fillRect/>
          </a:stretch>
        </p:blipFill>
        <p:spPr>
          <a:xfrm>
            <a:off x="457200" y="1463040"/>
            <a:ext cx="6400800" cy="3196087"/>
          </a:xfrm>
          <a:prstGeom prst="rect">
            <a:avLst/>
          </a:prstGeom>
        </p:spPr>
      </p:pic>
      <p:sp>
        <p:nvSpPr>
          <p:cNvPr id="7" name="Rounded Rectangle 6"/>
          <p:cNvSpPr/>
          <p:nvPr/>
        </p:nvSpPr>
        <p:spPr>
          <a:xfrm>
            <a:off x="7269480" y="1417320"/>
            <a:ext cx="448056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79" y="1554480"/>
            <a:ext cx="4114800" cy="365760"/>
          </a:xfrm>
          <a:prstGeom prst="rect">
            <a:avLst/>
          </a:prstGeom>
          <a:noFill/>
        </p:spPr>
        <p:txBody>
          <a:bodyPr wrap="square" lIns="0" tIns="0" rIns="0" bIns="0" anchor="t">
            <a:spAutoFit/>
          </a:bodyPr>
          <a:lstStyle/>
          <a:p>
            <a:pPr algn="l"/>
            <a:r>
              <a:rPr sz="1400" b="1">
                <a:solidFill>
                  <a:srgbClr val="2563EB"/>
                </a:solidFill>
                <a:latin typeface="Calibri"/>
              </a:rPr>
              <a:t>Numbers</a:t>
            </a:r>
          </a:p>
        </p:txBody>
      </p:sp>
      <p:sp>
        <p:nvSpPr>
          <p:cNvPr id="9" name="Rounded Rectangle 8"/>
          <p:cNvSpPr/>
          <p:nvPr/>
        </p:nvSpPr>
        <p:spPr>
          <a:xfrm>
            <a:off x="7498079" y="2011680"/>
            <a:ext cx="4114800" cy="320040"/>
          </a:xfrm>
          <a:prstGeom prst="roundRect">
            <a:avLst/>
          </a:prstGeom>
          <a:solidFill>
            <a:srgbClr val="0F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79" y="2048256"/>
            <a:ext cx="1033271" cy="292608"/>
          </a:xfrm>
          <a:prstGeom prst="rect">
            <a:avLst/>
          </a:prstGeom>
          <a:noFill/>
        </p:spPr>
        <p:txBody>
          <a:bodyPr wrap="square" lIns="0" tIns="0" rIns="0" bIns="0" anchor="t">
            <a:spAutoFit/>
          </a:bodyPr>
          <a:lstStyle/>
          <a:p>
            <a:pPr algn="l"/>
            <a:r>
              <a:rPr sz="1200" b="1">
                <a:solidFill>
                  <a:srgbClr val="FFFFFF"/>
                </a:solidFill>
                <a:latin typeface="Calibri"/>
              </a:rPr>
              <a:t>Metric</a:t>
            </a:r>
          </a:p>
        </p:txBody>
      </p:sp>
      <p:sp>
        <p:nvSpPr>
          <p:cNvPr id="11" name="TextBox 10"/>
          <p:cNvSpPr txBox="1"/>
          <p:nvPr/>
        </p:nvSpPr>
        <p:spPr>
          <a:xfrm>
            <a:off x="8531351" y="2048256"/>
            <a:ext cx="1033271" cy="292608"/>
          </a:xfrm>
          <a:prstGeom prst="rect">
            <a:avLst/>
          </a:prstGeom>
          <a:noFill/>
        </p:spPr>
        <p:txBody>
          <a:bodyPr wrap="square" lIns="0" tIns="0" rIns="0" bIns="0" anchor="t">
            <a:spAutoFit/>
          </a:bodyPr>
          <a:lstStyle/>
          <a:p>
            <a:pPr algn="ctr"/>
            <a:r>
              <a:rPr sz="1200" b="1">
                <a:solidFill>
                  <a:srgbClr val="FFFFFF"/>
                </a:solidFill>
                <a:latin typeface="Calibri"/>
              </a:rPr>
              <a:t>PPO</a:t>
            </a:r>
          </a:p>
        </p:txBody>
      </p:sp>
      <p:sp>
        <p:nvSpPr>
          <p:cNvPr id="12" name="TextBox 11"/>
          <p:cNvSpPr txBox="1"/>
          <p:nvPr/>
        </p:nvSpPr>
        <p:spPr>
          <a:xfrm>
            <a:off x="9564624" y="2048256"/>
            <a:ext cx="1033271" cy="292608"/>
          </a:xfrm>
          <a:prstGeom prst="rect">
            <a:avLst/>
          </a:prstGeom>
          <a:noFill/>
        </p:spPr>
        <p:txBody>
          <a:bodyPr wrap="square" lIns="0" tIns="0" rIns="0" bIns="0" anchor="t">
            <a:spAutoFit/>
          </a:bodyPr>
          <a:lstStyle/>
          <a:p>
            <a:pPr algn="ctr"/>
            <a:r>
              <a:rPr sz="1200" b="1">
                <a:solidFill>
                  <a:srgbClr val="FFFFFF"/>
                </a:solidFill>
                <a:latin typeface="Calibri"/>
              </a:rPr>
              <a:t>PPOLag</a:t>
            </a:r>
          </a:p>
        </p:txBody>
      </p:sp>
      <p:sp>
        <p:nvSpPr>
          <p:cNvPr id="13" name="TextBox 12"/>
          <p:cNvSpPr txBox="1"/>
          <p:nvPr/>
        </p:nvSpPr>
        <p:spPr>
          <a:xfrm>
            <a:off x="10597896" y="2048256"/>
            <a:ext cx="1033271" cy="292608"/>
          </a:xfrm>
          <a:prstGeom prst="rect">
            <a:avLst/>
          </a:prstGeom>
          <a:noFill/>
        </p:spPr>
        <p:txBody>
          <a:bodyPr wrap="square" lIns="0" tIns="0" rIns="0" bIns="0" anchor="t">
            <a:spAutoFit/>
          </a:bodyPr>
          <a:lstStyle/>
          <a:p>
            <a:pPr algn="ctr"/>
            <a:r>
              <a:rPr sz="1200" b="1">
                <a:solidFill>
                  <a:srgbClr val="FFFFFF"/>
                </a:solidFill>
                <a:latin typeface="Calibri"/>
              </a:rPr>
              <a:t>Δ</a:t>
            </a:r>
          </a:p>
        </p:txBody>
      </p:sp>
      <p:sp>
        <p:nvSpPr>
          <p:cNvPr id="14" name="TextBox 13"/>
          <p:cNvSpPr txBox="1"/>
          <p:nvPr/>
        </p:nvSpPr>
        <p:spPr>
          <a:xfrm>
            <a:off x="7498079" y="2414016"/>
            <a:ext cx="1033271" cy="292608"/>
          </a:xfrm>
          <a:prstGeom prst="rect">
            <a:avLst/>
          </a:prstGeom>
          <a:noFill/>
        </p:spPr>
        <p:txBody>
          <a:bodyPr wrap="square" lIns="0" tIns="0" rIns="0" bIns="0" anchor="t">
            <a:spAutoFit/>
          </a:bodyPr>
          <a:lstStyle/>
          <a:p>
            <a:pPr algn="l"/>
            <a:r>
              <a:rPr sz="1200" b="1">
                <a:solidFill>
                  <a:srgbClr val="0F294B"/>
                </a:solidFill>
                <a:latin typeface="Calibri"/>
              </a:rPr>
              <a:t>Collision</a:t>
            </a:r>
          </a:p>
        </p:txBody>
      </p:sp>
      <p:sp>
        <p:nvSpPr>
          <p:cNvPr id="15" name="TextBox 14"/>
          <p:cNvSpPr txBox="1"/>
          <p:nvPr/>
        </p:nvSpPr>
        <p:spPr>
          <a:xfrm>
            <a:off x="8531351" y="2414016"/>
            <a:ext cx="1033271" cy="292608"/>
          </a:xfrm>
          <a:prstGeom prst="rect">
            <a:avLst/>
          </a:prstGeom>
          <a:noFill/>
        </p:spPr>
        <p:txBody>
          <a:bodyPr wrap="square" lIns="0" tIns="0" rIns="0" bIns="0" anchor="t">
            <a:spAutoFit/>
          </a:bodyPr>
          <a:lstStyle/>
          <a:p>
            <a:pPr algn="ctr"/>
            <a:r>
              <a:rPr sz="1200" b="0">
                <a:solidFill>
                  <a:srgbClr val="DC2626"/>
                </a:solidFill>
                <a:latin typeface="Calibri"/>
              </a:rPr>
              <a:t>40.0 %</a:t>
            </a:r>
          </a:p>
        </p:txBody>
      </p:sp>
      <p:sp>
        <p:nvSpPr>
          <p:cNvPr id="16" name="TextBox 15"/>
          <p:cNvSpPr txBox="1"/>
          <p:nvPr/>
        </p:nvSpPr>
        <p:spPr>
          <a:xfrm>
            <a:off x="9564624" y="2414016"/>
            <a:ext cx="1033271" cy="292608"/>
          </a:xfrm>
          <a:prstGeom prst="rect">
            <a:avLst/>
          </a:prstGeom>
          <a:noFill/>
        </p:spPr>
        <p:txBody>
          <a:bodyPr wrap="square" lIns="0" tIns="0" rIns="0" bIns="0" anchor="t">
            <a:spAutoFit/>
          </a:bodyPr>
          <a:lstStyle/>
          <a:p>
            <a:pPr algn="ctr"/>
            <a:r>
              <a:rPr sz="1200" b="0">
                <a:solidFill>
                  <a:srgbClr val="16A34A"/>
                </a:solidFill>
                <a:latin typeface="Calibri"/>
              </a:rPr>
              <a:t>9.0 %</a:t>
            </a:r>
          </a:p>
        </p:txBody>
      </p:sp>
      <p:sp>
        <p:nvSpPr>
          <p:cNvPr id="17" name="TextBox 16"/>
          <p:cNvSpPr txBox="1"/>
          <p:nvPr/>
        </p:nvSpPr>
        <p:spPr>
          <a:xfrm>
            <a:off x="10597896" y="2414016"/>
            <a:ext cx="1033271" cy="292608"/>
          </a:xfrm>
          <a:prstGeom prst="rect">
            <a:avLst/>
          </a:prstGeom>
          <a:noFill/>
        </p:spPr>
        <p:txBody>
          <a:bodyPr wrap="square" lIns="0" tIns="0" rIns="0" bIns="0" anchor="t">
            <a:spAutoFit/>
          </a:bodyPr>
          <a:lstStyle/>
          <a:p>
            <a:pPr algn="ctr"/>
            <a:r>
              <a:rPr sz="1200" b="0">
                <a:solidFill>
                  <a:srgbClr val="16A34A"/>
                </a:solidFill>
                <a:latin typeface="Calibri"/>
              </a:rPr>
              <a:t>−77 %</a:t>
            </a:r>
          </a:p>
        </p:txBody>
      </p:sp>
      <p:sp>
        <p:nvSpPr>
          <p:cNvPr id="18" name="TextBox 17"/>
          <p:cNvSpPr txBox="1"/>
          <p:nvPr/>
        </p:nvSpPr>
        <p:spPr>
          <a:xfrm>
            <a:off x="7498079" y="2734056"/>
            <a:ext cx="1033271" cy="292608"/>
          </a:xfrm>
          <a:prstGeom prst="rect">
            <a:avLst/>
          </a:prstGeom>
          <a:noFill/>
        </p:spPr>
        <p:txBody>
          <a:bodyPr wrap="square" lIns="0" tIns="0" rIns="0" bIns="0" anchor="t">
            <a:spAutoFit/>
          </a:bodyPr>
          <a:lstStyle/>
          <a:p>
            <a:pPr algn="l"/>
            <a:r>
              <a:rPr sz="1200" b="1">
                <a:solidFill>
                  <a:srgbClr val="0F294B"/>
                </a:solidFill>
                <a:latin typeface="Calibri"/>
              </a:rPr>
              <a:t>Reward</a:t>
            </a:r>
          </a:p>
        </p:txBody>
      </p:sp>
      <p:sp>
        <p:nvSpPr>
          <p:cNvPr id="19" name="TextBox 18"/>
          <p:cNvSpPr txBox="1"/>
          <p:nvPr/>
        </p:nvSpPr>
        <p:spPr>
          <a:xfrm>
            <a:off x="8531351" y="2734056"/>
            <a:ext cx="1033271" cy="292608"/>
          </a:xfrm>
          <a:prstGeom prst="rect">
            <a:avLst/>
          </a:prstGeom>
          <a:noFill/>
        </p:spPr>
        <p:txBody>
          <a:bodyPr wrap="square" lIns="0" tIns="0" rIns="0" bIns="0" anchor="t">
            <a:spAutoFit/>
          </a:bodyPr>
          <a:lstStyle/>
          <a:p>
            <a:pPr algn="ctr"/>
            <a:r>
              <a:rPr sz="1200" b="0">
                <a:solidFill>
                  <a:srgbClr val="DC2626"/>
                </a:solidFill>
                <a:latin typeface="Calibri"/>
              </a:rPr>
              <a:t>9.69</a:t>
            </a:r>
          </a:p>
        </p:txBody>
      </p:sp>
      <p:sp>
        <p:nvSpPr>
          <p:cNvPr id="20" name="TextBox 19"/>
          <p:cNvSpPr txBox="1"/>
          <p:nvPr/>
        </p:nvSpPr>
        <p:spPr>
          <a:xfrm>
            <a:off x="9564624" y="2734056"/>
            <a:ext cx="1033271" cy="292608"/>
          </a:xfrm>
          <a:prstGeom prst="rect">
            <a:avLst/>
          </a:prstGeom>
          <a:noFill/>
        </p:spPr>
        <p:txBody>
          <a:bodyPr wrap="square" lIns="0" tIns="0" rIns="0" bIns="0" anchor="t">
            <a:spAutoFit/>
          </a:bodyPr>
          <a:lstStyle/>
          <a:p>
            <a:pPr algn="ctr"/>
            <a:r>
              <a:rPr sz="1200" b="0">
                <a:solidFill>
                  <a:srgbClr val="16A34A"/>
                </a:solidFill>
                <a:latin typeface="Calibri"/>
              </a:rPr>
              <a:t>8.08</a:t>
            </a:r>
          </a:p>
        </p:txBody>
      </p:sp>
      <p:sp>
        <p:nvSpPr>
          <p:cNvPr id="21" name="TextBox 20"/>
          <p:cNvSpPr txBox="1"/>
          <p:nvPr/>
        </p:nvSpPr>
        <p:spPr>
          <a:xfrm>
            <a:off x="10597896" y="2734056"/>
            <a:ext cx="1033271" cy="292608"/>
          </a:xfrm>
          <a:prstGeom prst="rect">
            <a:avLst/>
          </a:prstGeom>
          <a:noFill/>
        </p:spPr>
        <p:txBody>
          <a:bodyPr wrap="square" lIns="0" tIns="0" rIns="0" bIns="0" anchor="t">
            <a:spAutoFit/>
          </a:bodyPr>
          <a:lstStyle/>
          <a:p>
            <a:pPr algn="ctr"/>
            <a:r>
              <a:rPr sz="1200" b="0">
                <a:solidFill>
                  <a:srgbClr val="16A34A"/>
                </a:solidFill>
                <a:latin typeface="Calibri"/>
              </a:rPr>
              <a:t>−16 %</a:t>
            </a:r>
          </a:p>
        </p:txBody>
      </p:sp>
      <p:sp>
        <p:nvSpPr>
          <p:cNvPr id="22" name="TextBox 21"/>
          <p:cNvSpPr txBox="1"/>
          <p:nvPr/>
        </p:nvSpPr>
        <p:spPr>
          <a:xfrm>
            <a:off x="7498079" y="3054096"/>
            <a:ext cx="1033271" cy="292608"/>
          </a:xfrm>
          <a:prstGeom prst="rect">
            <a:avLst/>
          </a:prstGeom>
          <a:noFill/>
        </p:spPr>
        <p:txBody>
          <a:bodyPr wrap="square" lIns="0" tIns="0" rIns="0" bIns="0" anchor="t">
            <a:spAutoFit/>
          </a:bodyPr>
          <a:lstStyle/>
          <a:p>
            <a:pPr algn="l"/>
            <a:r>
              <a:rPr sz="1200" b="1">
                <a:solidFill>
                  <a:srgbClr val="0F294B"/>
                </a:solidFill>
                <a:latin typeface="Calibri"/>
              </a:rPr>
              <a:t>Cost</a:t>
            </a:r>
          </a:p>
        </p:txBody>
      </p:sp>
      <p:sp>
        <p:nvSpPr>
          <p:cNvPr id="23" name="TextBox 22"/>
          <p:cNvSpPr txBox="1"/>
          <p:nvPr/>
        </p:nvSpPr>
        <p:spPr>
          <a:xfrm>
            <a:off x="8531351" y="3054096"/>
            <a:ext cx="1033271" cy="292608"/>
          </a:xfrm>
          <a:prstGeom prst="rect">
            <a:avLst/>
          </a:prstGeom>
          <a:noFill/>
        </p:spPr>
        <p:txBody>
          <a:bodyPr wrap="square" lIns="0" tIns="0" rIns="0" bIns="0" anchor="t">
            <a:spAutoFit/>
          </a:bodyPr>
          <a:lstStyle/>
          <a:p>
            <a:pPr algn="ctr"/>
            <a:r>
              <a:rPr sz="1200" b="0">
                <a:solidFill>
                  <a:srgbClr val="DC2626"/>
                </a:solidFill>
                <a:latin typeface="Calibri"/>
              </a:rPr>
              <a:t>0.40</a:t>
            </a:r>
          </a:p>
        </p:txBody>
      </p:sp>
      <p:sp>
        <p:nvSpPr>
          <p:cNvPr id="24" name="TextBox 23"/>
          <p:cNvSpPr txBox="1"/>
          <p:nvPr/>
        </p:nvSpPr>
        <p:spPr>
          <a:xfrm>
            <a:off x="9564624" y="3054096"/>
            <a:ext cx="1033271" cy="292608"/>
          </a:xfrm>
          <a:prstGeom prst="rect">
            <a:avLst/>
          </a:prstGeom>
          <a:noFill/>
        </p:spPr>
        <p:txBody>
          <a:bodyPr wrap="square" lIns="0" tIns="0" rIns="0" bIns="0" anchor="t">
            <a:spAutoFit/>
          </a:bodyPr>
          <a:lstStyle/>
          <a:p>
            <a:pPr algn="ctr"/>
            <a:r>
              <a:rPr sz="1200" b="0">
                <a:solidFill>
                  <a:srgbClr val="16A34A"/>
                </a:solidFill>
                <a:latin typeface="Calibri"/>
              </a:rPr>
              <a:t>0.09</a:t>
            </a:r>
          </a:p>
        </p:txBody>
      </p:sp>
      <p:sp>
        <p:nvSpPr>
          <p:cNvPr id="25" name="TextBox 24"/>
          <p:cNvSpPr txBox="1"/>
          <p:nvPr/>
        </p:nvSpPr>
        <p:spPr>
          <a:xfrm>
            <a:off x="10597896" y="3054096"/>
            <a:ext cx="1033271" cy="292608"/>
          </a:xfrm>
          <a:prstGeom prst="rect">
            <a:avLst/>
          </a:prstGeom>
          <a:noFill/>
        </p:spPr>
        <p:txBody>
          <a:bodyPr wrap="square" lIns="0" tIns="0" rIns="0" bIns="0" anchor="t">
            <a:spAutoFit/>
          </a:bodyPr>
          <a:lstStyle/>
          <a:p>
            <a:pPr algn="ctr"/>
            <a:r>
              <a:rPr sz="1200" b="0">
                <a:solidFill>
                  <a:srgbClr val="16A34A"/>
                </a:solidFill>
                <a:latin typeface="Calibri"/>
              </a:rPr>
              <a:t>−77 %</a:t>
            </a:r>
          </a:p>
        </p:txBody>
      </p:sp>
      <p:sp>
        <p:nvSpPr>
          <p:cNvPr id="26" name="TextBox 25"/>
          <p:cNvSpPr txBox="1"/>
          <p:nvPr/>
        </p:nvSpPr>
        <p:spPr>
          <a:xfrm>
            <a:off x="7498079" y="3374136"/>
            <a:ext cx="1033271" cy="292608"/>
          </a:xfrm>
          <a:prstGeom prst="rect">
            <a:avLst/>
          </a:prstGeom>
          <a:noFill/>
        </p:spPr>
        <p:txBody>
          <a:bodyPr wrap="square" lIns="0" tIns="0" rIns="0" bIns="0" anchor="t">
            <a:spAutoFit/>
          </a:bodyPr>
          <a:lstStyle/>
          <a:p>
            <a:pPr algn="l"/>
            <a:r>
              <a:rPr sz="1200" b="1">
                <a:solidFill>
                  <a:srgbClr val="0F294B"/>
                </a:solidFill>
                <a:latin typeface="Calibri"/>
              </a:rPr>
              <a:t>Length</a:t>
            </a:r>
          </a:p>
        </p:txBody>
      </p:sp>
      <p:sp>
        <p:nvSpPr>
          <p:cNvPr id="27" name="TextBox 26"/>
          <p:cNvSpPr txBox="1"/>
          <p:nvPr/>
        </p:nvSpPr>
        <p:spPr>
          <a:xfrm>
            <a:off x="8531351" y="3374136"/>
            <a:ext cx="1033271" cy="292608"/>
          </a:xfrm>
          <a:prstGeom prst="rect">
            <a:avLst/>
          </a:prstGeom>
          <a:noFill/>
        </p:spPr>
        <p:txBody>
          <a:bodyPr wrap="square" lIns="0" tIns="0" rIns="0" bIns="0" anchor="t">
            <a:spAutoFit/>
          </a:bodyPr>
          <a:lstStyle/>
          <a:p>
            <a:pPr algn="ctr"/>
            <a:r>
              <a:rPr sz="1200" b="0">
                <a:solidFill>
                  <a:srgbClr val="DC2626"/>
                </a:solidFill>
                <a:latin typeface="Calibri"/>
              </a:rPr>
              <a:t>14.6</a:t>
            </a:r>
          </a:p>
        </p:txBody>
      </p:sp>
      <p:sp>
        <p:nvSpPr>
          <p:cNvPr id="28" name="TextBox 27"/>
          <p:cNvSpPr txBox="1"/>
          <p:nvPr/>
        </p:nvSpPr>
        <p:spPr>
          <a:xfrm>
            <a:off x="9564624" y="3374136"/>
            <a:ext cx="1033271" cy="292608"/>
          </a:xfrm>
          <a:prstGeom prst="rect">
            <a:avLst/>
          </a:prstGeom>
          <a:noFill/>
        </p:spPr>
        <p:txBody>
          <a:bodyPr wrap="square" lIns="0" tIns="0" rIns="0" bIns="0" anchor="t">
            <a:spAutoFit/>
          </a:bodyPr>
          <a:lstStyle/>
          <a:p>
            <a:pPr algn="ctr"/>
            <a:r>
              <a:rPr sz="1200" b="0">
                <a:solidFill>
                  <a:srgbClr val="16A34A"/>
                </a:solidFill>
                <a:latin typeface="Calibri"/>
              </a:rPr>
              <a:t>16.7</a:t>
            </a:r>
          </a:p>
        </p:txBody>
      </p:sp>
      <p:sp>
        <p:nvSpPr>
          <p:cNvPr id="29" name="TextBox 28"/>
          <p:cNvSpPr txBox="1"/>
          <p:nvPr/>
        </p:nvSpPr>
        <p:spPr>
          <a:xfrm>
            <a:off x="10597896" y="3374136"/>
            <a:ext cx="1033271" cy="292608"/>
          </a:xfrm>
          <a:prstGeom prst="rect">
            <a:avLst/>
          </a:prstGeom>
          <a:noFill/>
        </p:spPr>
        <p:txBody>
          <a:bodyPr wrap="square" lIns="0" tIns="0" rIns="0" bIns="0" anchor="t">
            <a:spAutoFit/>
          </a:bodyPr>
          <a:lstStyle/>
          <a:p>
            <a:pPr algn="ctr"/>
            <a:r>
              <a:rPr sz="1200" b="0">
                <a:solidFill>
                  <a:srgbClr val="DC2626"/>
                </a:solidFill>
                <a:latin typeface="Calibri"/>
              </a:rPr>
              <a:t>+14 %</a:t>
            </a:r>
          </a:p>
        </p:txBody>
      </p:sp>
      <p:sp>
        <p:nvSpPr>
          <p:cNvPr id="30" name="TextBox 29"/>
          <p:cNvSpPr txBox="1"/>
          <p:nvPr/>
        </p:nvSpPr>
        <p:spPr>
          <a:xfrm>
            <a:off x="7498079" y="4023360"/>
            <a:ext cx="4114800" cy="1828800"/>
          </a:xfrm>
          <a:prstGeom prst="rect">
            <a:avLst/>
          </a:prstGeom>
          <a:noFill/>
        </p:spPr>
        <p:txBody>
          <a:bodyPr wrap="square" lIns="0" tIns="0" rIns="0" bIns="0" anchor="t">
            <a:spAutoFit/>
          </a:bodyPr>
          <a:lstStyle/>
          <a:p>
            <a:pPr algn="l"/>
            <a:r>
              <a:rPr sz="1200" b="0">
                <a:solidFill>
                  <a:srgbClr val="0F294B"/>
                </a:solidFill>
                <a:latin typeface="Calibri"/>
              </a:rPr>
              <a:t>9 % satisfies the constraint d = 0.1.
PPO never converges below 30–40 % cost  →
the safety gain is real, not a side-effect of more training.
Episode length grows with PPOLag — it drives more carefully, not faster.</a:t>
            </a:r>
          </a:p>
        </p:txBody>
      </p:sp>
      <p:sp>
        <p:nvSpPr>
          <p:cNvPr id="31" name="TextBox 30"/>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How PPOLag learns the constraint</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7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Cost converges below the limit by epoch 5; PPO's cost stays high.</a:t>
            </a:r>
          </a:p>
        </p:txBody>
      </p:sp>
      <p:pic>
        <p:nvPicPr>
          <p:cNvPr id="6" name="Picture 5" descr="training_curves_combined.png"/>
          <p:cNvPicPr>
            <a:picLocks noChangeAspect="1"/>
          </p:cNvPicPr>
          <p:nvPr/>
        </p:nvPicPr>
        <p:blipFill>
          <a:blip r:embed="rId3"/>
          <a:stretch>
            <a:fillRect/>
          </a:stretch>
        </p:blipFill>
        <p:spPr>
          <a:xfrm>
            <a:off x="365760" y="1417320"/>
            <a:ext cx="11430000" cy="4267375"/>
          </a:xfrm>
          <a:prstGeom prst="rect">
            <a:avLst/>
          </a:prstGeom>
        </p:spPr>
      </p:pic>
      <p:sp>
        <p:nvSpPr>
          <p:cNvPr id="7" name="Rounded Rectangle 6"/>
          <p:cNvSpPr/>
          <p:nvPr/>
        </p:nvSpPr>
        <p:spPr>
          <a:xfrm>
            <a:off x="457200" y="5532120"/>
            <a:ext cx="11274552" cy="77724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650992"/>
            <a:ext cx="10698480" cy="548640"/>
          </a:xfrm>
          <a:prstGeom prst="rect">
            <a:avLst/>
          </a:prstGeom>
          <a:noFill/>
        </p:spPr>
        <p:txBody>
          <a:bodyPr wrap="square" lIns="0" tIns="0" rIns="0" bIns="0" anchor="t">
            <a:spAutoFit/>
          </a:bodyPr>
          <a:lstStyle/>
          <a:p>
            <a:pPr algn="l"/>
            <a:r>
              <a:rPr sz="1200" b="0">
                <a:solidFill>
                  <a:srgbClr val="0F294B"/>
                </a:solidFill>
                <a:latin typeface="Calibri"/>
              </a:rPr>
              <a:t>Constraint mechanism is observably working: PPOLag's cost (green squares, left) crosses below d = 0.1 around epoch 5 and stays there.  PPO's cost (red circles) oscillates between 0.2 and 0.7 — no incentive to learn safety.</a:t>
            </a:r>
          </a:p>
        </p:txBody>
      </p:sp>
      <p:sp>
        <p:nvSpPr>
          <p:cNvPr id="9" name="TextBox 8"/>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Cross-scenario:  does the recipe generalize?</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8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Same algorithms, four different driving tasks.  PPO baseline now visible.</a:t>
            </a:r>
          </a:p>
        </p:txBody>
      </p:sp>
      <p:pic>
        <p:nvPicPr>
          <p:cNvPr id="6" name="Picture 5" descr="cross_scenario_with_ppo.png"/>
          <p:cNvPicPr>
            <a:picLocks noChangeAspect="1"/>
          </p:cNvPicPr>
          <p:nvPr/>
        </p:nvPicPr>
        <p:blipFill>
          <a:blip r:embed="rId3"/>
          <a:stretch>
            <a:fillRect/>
          </a:stretch>
        </p:blipFill>
        <p:spPr>
          <a:xfrm>
            <a:off x="365760" y="1417320"/>
            <a:ext cx="7772400" cy="3512810"/>
          </a:xfrm>
          <a:prstGeom prst="rect">
            <a:avLst/>
          </a:prstGeom>
        </p:spPr>
      </p:pic>
      <p:sp>
        <p:nvSpPr>
          <p:cNvPr id="7" name="Rounded Rectangle 6"/>
          <p:cNvSpPr/>
          <p:nvPr/>
        </p:nvSpPr>
        <p:spPr>
          <a:xfrm>
            <a:off x="8321040" y="1417320"/>
            <a:ext cx="347472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503920" y="1554480"/>
            <a:ext cx="3108960" cy="365760"/>
          </a:xfrm>
          <a:prstGeom prst="rect">
            <a:avLst/>
          </a:prstGeom>
          <a:noFill/>
        </p:spPr>
        <p:txBody>
          <a:bodyPr wrap="square" lIns="0" tIns="0" rIns="0" bIns="0" anchor="t">
            <a:spAutoFit/>
          </a:bodyPr>
          <a:lstStyle/>
          <a:p>
            <a:pPr algn="l"/>
            <a:r>
              <a:rPr sz="1300" b="1">
                <a:solidFill>
                  <a:srgbClr val="2563EB"/>
                </a:solidFill>
                <a:latin typeface="Calibri"/>
              </a:rPr>
              <a:t>Per-scenario verdict</a:t>
            </a:r>
          </a:p>
        </p:txBody>
      </p:sp>
      <p:sp>
        <p:nvSpPr>
          <p:cNvPr id="9" name="TextBox 8"/>
          <p:cNvSpPr txBox="1"/>
          <p:nvPr/>
        </p:nvSpPr>
        <p:spPr>
          <a:xfrm>
            <a:off x="8503920" y="1965960"/>
            <a:ext cx="3108960" cy="292608"/>
          </a:xfrm>
          <a:prstGeom prst="rect">
            <a:avLst/>
          </a:prstGeom>
          <a:noFill/>
        </p:spPr>
        <p:txBody>
          <a:bodyPr wrap="square" lIns="0" tIns="0" rIns="0" bIns="0" anchor="t">
            <a:spAutoFit/>
          </a:bodyPr>
          <a:lstStyle/>
          <a:p>
            <a:pPr algn="l"/>
            <a:r>
              <a:rPr sz="1200" b="1">
                <a:solidFill>
                  <a:srgbClr val="16A34A"/>
                </a:solidFill>
                <a:latin typeface="Calibri"/>
              </a:rPr>
              <a:t>Merge</a:t>
            </a:r>
          </a:p>
        </p:txBody>
      </p:sp>
      <p:sp>
        <p:nvSpPr>
          <p:cNvPr id="10" name="TextBox 9"/>
          <p:cNvSpPr txBox="1"/>
          <p:nvPr/>
        </p:nvSpPr>
        <p:spPr>
          <a:xfrm>
            <a:off x="8503920" y="2240280"/>
            <a:ext cx="3108960" cy="777240"/>
          </a:xfrm>
          <a:prstGeom prst="rect">
            <a:avLst/>
          </a:prstGeom>
          <a:noFill/>
        </p:spPr>
        <p:txBody>
          <a:bodyPr wrap="square" lIns="0" tIns="0" rIns="0" bIns="0" anchor="t">
            <a:spAutoFit/>
          </a:bodyPr>
          <a:lstStyle/>
          <a:p>
            <a:pPr algn="l"/>
            <a:r>
              <a:rPr sz="1100" b="0">
                <a:solidFill>
                  <a:srgbClr val="0F294B"/>
                </a:solidFill>
                <a:latin typeface="Calibri"/>
              </a:rPr>
              <a:t>PPOLag wins  (30 % vs 50 %).  CPO under-trained.</a:t>
            </a:r>
          </a:p>
        </p:txBody>
      </p:sp>
      <p:sp>
        <p:nvSpPr>
          <p:cNvPr id="11" name="TextBox 10"/>
          <p:cNvSpPr txBox="1"/>
          <p:nvPr/>
        </p:nvSpPr>
        <p:spPr>
          <a:xfrm>
            <a:off x="8503920" y="2971800"/>
            <a:ext cx="3108960" cy="292608"/>
          </a:xfrm>
          <a:prstGeom prst="rect">
            <a:avLst/>
          </a:prstGeom>
          <a:noFill/>
        </p:spPr>
        <p:txBody>
          <a:bodyPr wrap="square" lIns="0" tIns="0" rIns="0" bIns="0" anchor="t">
            <a:spAutoFit/>
          </a:bodyPr>
          <a:lstStyle/>
          <a:p>
            <a:pPr algn="l"/>
            <a:r>
              <a:rPr sz="1200" b="1">
                <a:solidFill>
                  <a:srgbClr val="16A34A"/>
                </a:solidFill>
                <a:latin typeface="Calibri"/>
              </a:rPr>
              <a:t>Highway</a:t>
            </a:r>
          </a:p>
        </p:txBody>
      </p:sp>
      <p:sp>
        <p:nvSpPr>
          <p:cNvPr id="12" name="TextBox 11"/>
          <p:cNvSpPr txBox="1"/>
          <p:nvPr/>
        </p:nvSpPr>
        <p:spPr>
          <a:xfrm>
            <a:off x="8503920" y="3246120"/>
            <a:ext cx="3108960" cy="777240"/>
          </a:xfrm>
          <a:prstGeom prst="rect">
            <a:avLst/>
          </a:prstGeom>
          <a:noFill/>
        </p:spPr>
        <p:txBody>
          <a:bodyPr wrap="square" lIns="0" tIns="0" rIns="0" bIns="0" anchor="t">
            <a:spAutoFit/>
          </a:bodyPr>
          <a:lstStyle/>
          <a:p>
            <a:pPr algn="l"/>
            <a:r>
              <a:rPr sz="1100" b="0">
                <a:solidFill>
                  <a:srgbClr val="0F294B"/>
                </a:solidFill>
                <a:latin typeface="Calibri"/>
              </a:rPr>
              <a:t>PPOLag wins  (55 % vs 100 %).</a:t>
            </a:r>
          </a:p>
        </p:txBody>
      </p:sp>
      <p:sp>
        <p:nvSpPr>
          <p:cNvPr id="13" name="TextBox 12"/>
          <p:cNvSpPr txBox="1"/>
          <p:nvPr/>
        </p:nvSpPr>
        <p:spPr>
          <a:xfrm>
            <a:off x="8503920" y="3977640"/>
            <a:ext cx="3108960" cy="292608"/>
          </a:xfrm>
          <a:prstGeom prst="rect">
            <a:avLst/>
          </a:prstGeom>
          <a:noFill/>
        </p:spPr>
        <p:txBody>
          <a:bodyPr wrap="square" lIns="0" tIns="0" rIns="0" bIns="0" anchor="t">
            <a:spAutoFit/>
          </a:bodyPr>
          <a:lstStyle/>
          <a:p>
            <a:pPr algn="l"/>
            <a:r>
              <a:rPr sz="1200" b="1">
                <a:solidFill>
                  <a:srgbClr val="64748B"/>
                </a:solidFill>
                <a:latin typeface="Calibri"/>
              </a:rPr>
              <a:t>Roundabout</a:t>
            </a:r>
          </a:p>
        </p:txBody>
      </p:sp>
      <p:sp>
        <p:nvSpPr>
          <p:cNvPr id="14" name="TextBox 13"/>
          <p:cNvSpPr txBox="1"/>
          <p:nvPr/>
        </p:nvSpPr>
        <p:spPr>
          <a:xfrm>
            <a:off x="8503920" y="4251960"/>
            <a:ext cx="3108960" cy="777240"/>
          </a:xfrm>
          <a:prstGeom prst="rect">
            <a:avLst/>
          </a:prstGeom>
          <a:noFill/>
        </p:spPr>
        <p:txBody>
          <a:bodyPr wrap="square" lIns="0" tIns="0" rIns="0" bIns="0" anchor="t">
            <a:spAutoFit/>
          </a:bodyPr>
          <a:lstStyle/>
          <a:p>
            <a:pPr algn="l"/>
            <a:r>
              <a:rPr sz="1100" b="0">
                <a:solidFill>
                  <a:srgbClr val="0F294B"/>
                </a:solidFill>
                <a:latin typeface="Calibri"/>
              </a:rPr>
              <a:t>Tie at 40 % — but see slide 10.</a:t>
            </a:r>
          </a:p>
        </p:txBody>
      </p:sp>
      <p:sp>
        <p:nvSpPr>
          <p:cNvPr id="15" name="TextBox 14"/>
          <p:cNvSpPr txBox="1"/>
          <p:nvPr/>
        </p:nvSpPr>
        <p:spPr>
          <a:xfrm>
            <a:off x="8503920" y="4983480"/>
            <a:ext cx="3108960" cy="292608"/>
          </a:xfrm>
          <a:prstGeom prst="rect">
            <a:avLst/>
          </a:prstGeom>
          <a:noFill/>
        </p:spPr>
        <p:txBody>
          <a:bodyPr wrap="square" lIns="0" tIns="0" rIns="0" bIns="0" anchor="t">
            <a:spAutoFit/>
          </a:bodyPr>
          <a:lstStyle/>
          <a:p>
            <a:pPr algn="l"/>
            <a:r>
              <a:rPr sz="1200" b="1">
                <a:solidFill>
                  <a:srgbClr val="DC2626"/>
                </a:solidFill>
                <a:latin typeface="Calibri"/>
              </a:rPr>
              <a:t>Intersection</a:t>
            </a:r>
          </a:p>
        </p:txBody>
      </p:sp>
      <p:sp>
        <p:nvSpPr>
          <p:cNvPr id="16" name="TextBox 15"/>
          <p:cNvSpPr txBox="1"/>
          <p:nvPr/>
        </p:nvSpPr>
        <p:spPr>
          <a:xfrm>
            <a:off x="8503920" y="5257800"/>
            <a:ext cx="3108960" cy="777240"/>
          </a:xfrm>
          <a:prstGeom prst="rect">
            <a:avLst/>
          </a:prstGeom>
          <a:noFill/>
        </p:spPr>
        <p:txBody>
          <a:bodyPr wrap="square" lIns="0" tIns="0" rIns="0" bIns="0" anchor="t">
            <a:spAutoFit/>
          </a:bodyPr>
          <a:lstStyle/>
          <a:p>
            <a:pPr algn="l"/>
            <a:r>
              <a:rPr sz="1100" b="0">
                <a:solidFill>
                  <a:srgbClr val="0F294B"/>
                </a:solidFill>
                <a:latin typeface="Calibri"/>
              </a:rPr>
              <a:t>CMDP fails  (50 % vs 50 %).  Episode is too short.</a:t>
            </a:r>
          </a:p>
        </p:txBody>
      </p:sp>
      <p:sp>
        <p:nvSpPr>
          <p:cNvPr id="17" name="TextBox 16"/>
          <p:cNvSpPr txBox="1"/>
          <p:nvPr/>
        </p:nvSpPr>
        <p:spPr>
          <a:xfrm>
            <a:off x="457200" y="5989320"/>
            <a:ext cx="11274552" cy="411480"/>
          </a:xfrm>
          <a:prstGeom prst="rect">
            <a:avLst/>
          </a:prstGeom>
          <a:noFill/>
        </p:spPr>
        <p:txBody>
          <a:bodyPr wrap="square" lIns="0" tIns="0" rIns="0" bIns="0" anchor="t">
            <a:spAutoFit/>
          </a:bodyPr>
          <a:lstStyle/>
          <a:p>
            <a:pPr algn="l"/>
            <a:r>
              <a:rPr sz="1100" b="0">
                <a:solidFill>
                  <a:srgbClr val="64748B"/>
                </a:solidFill>
                <a:latin typeface="Calibri"/>
              </a:rPr>
              <a:t>Caveat: cross-scenario sweep used a short budget (2 ep × 300 steps; 2 seeds).  Trends are clear but absolute numbers are not directly comparable to slide 6.</a:t>
            </a:r>
          </a:p>
        </p:txBody>
      </p:sp>
      <p:sp>
        <p:nvSpPr>
          <p:cNvPr id="18" name="TextBox 17"/>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The Lagrangian is doing its job</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9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We don't log λ directly, but cost-vs-limit shows the controller is converging.</a:t>
            </a:r>
          </a:p>
        </p:txBody>
      </p:sp>
      <p:pic>
        <p:nvPicPr>
          <p:cNvPr id="6" name="Picture 5" descr="constraint_convergence.png"/>
          <p:cNvPicPr>
            <a:picLocks noChangeAspect="1"/>
          </p:cNvPicPr>
          <p:nvPr/>
        </p:nvPicPr>
        <p:blipFill>
          <a:blip r:embed="rId3"/>
          <a:stretch>
            <a:fillRect/>
          </a:stretch>
        </p:blipFill>
        <p:spPr>
          <a:xfrm>
            <a:off x="1463040" y="1417320"/>
            <a:ext cx="9144000" cy="4251097"/>
          </a:xfrm>
          <a:prstGeom prst="rect">
            <a:avLst/>
          </a:prstGeom>
        </p:spPr>
      </p:pic>
      <p:sp>
        <p:nvSpPr>
          <p:cNvPr id="7" name="TextBox 6"/>
          <p:cNvSpPr txBox="1"/>
          <p:nvPr/>
        </p:nvSpPr>
        <p:spPr>
          <a:xfrm>
            <a:off x="457200" y="5943600"/>
            <a:ext cx="11274552" cy="640080"/>
          </a:xfrm>
          <a:prstGeom prst="rect">
            <a:avLst/>
          </a:prstGeom>
          <a:noFill/>
        </p:spPr>
        <p:txBody>
          <a:bodyPr wrap="square" lIns="0" tIns="0" rIns="0" bIns="0" anchor="t">
            <a:spAutoFit/>
          </a:bodyPr>
          <a:lstStyle/>
          <a:p>
            <a:pPr algn="l"/>
            <a:r>
              <a:rPr sz="1200" b="0">
                <a:solidFill>
                  <a:srgbClr val="0F294B"/>
                </a:solidFill>
                <a:latin typeface="Calibri"/>
              </a:rPr>
              <a:t>If PPOLag were just PPO with a cosmetic penalty, cost would never predictably approach the limit.  The smooth descent toward d = 0.1 is direct evidence that the PID-Lagrangian (Kp=10, Ki=1, Kd=1) is actually closing the loop.</a:t>
            </a:r>
          </a:p>
        </p:txBody>
      </p:sp>
      <p:sp>
        <p:nvSpPr>
          <p:cNvPr id="8" name="TextBox 7"/>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What did NOT work — and why</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10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Three negative findings worth showing because they explain when CMDP breaks.</a:t>
            </a:r>
          </a:p>
        </p:txBody>
      </p:sp>
      <p:sp>
        <p:nvSpPr>
          <p:cNvPr id="6" name="Rounded Rectangle 5"/>
          <p:cNvSpPr/>
          <p:nvPr/>
        </p:nvSpPr>
        <p:spPr>
          <a:xfrm>
            <a:off x="457200" y="1417320"/>
            <a:ext cx="3749039"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1417320"/>
            <a:ext cx="3749039"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627632"/>
            <a:ext cx="3383279" cy="640080"/>
          </a:xfrm>
          <a:prstGeom prst="rect">
            <a:avLst/>
          </a:prstGeom>
          <a:noFill/>
        </p:spPr>
        <p:txBody>
          <a:bodyPr wrap="square" lIns="0" tIns="0" rIns="0" bIns="0" anchor="t">
            <a:spAutoFit/>
          </a:bodyPr>
          <a:lstStyle/>
          <a:p>
            <a:pPr algn="l"/>
            <a:r>
              <a:rPr sz="1300" b="1">
                <a:solidFill>
                  <a:srgbClr val="DC2626"/>
                </a:solidFill>
                <a:latin typeface="Calibri"/>
              </a:rPr>
              <a:t>Roundabout:  freezing-robot</a:t>
            </a:r>
          </a:p>
        </p:txBody>
      </p:sp>
      <p:sp>
        <p:nvSpPr>
          <p:cNvPr id="9" name="TextBox 8"/>
          <p:cNvSpPr txBox="1"/>
          <p:nvPr/>
        </p:nvSpPr>
        <p:spPr>
          <a:xfrm>
            <a:off x="685800" y="2240280"/>
            <a:ext cx="3383279" cy="3657600"/>
          </a:xfrm>
          <a:prstGeom prst="rect">
            <a:avLst/>
          </a:prstGeom>
          <a:noFill/>
        </p:spPr>
        <p:txBody>
          <a:bodyPr wrap="square" lIns="0" tIns="0" rIns="0" bIns="0" anchor="t">
            <a:spAutoFit/>
          </a:bodyPr>
          <a:lstStyle/>
          <a:p>
            <a:pPr algn="l"/>
            <a:r>
              <a:rPr sz="1100" b="0">
                <a:solidFill>
                  <a:srgbClr val="0F294B"/>
                </a:solidFill>
                <a:latin typeface="Calibri"/>
              </a:rPr>
              <a:t>PPOLag converges to avg reward = −0.44 (CPO scores 4.64).
A negative reward means the agent is being penalized faster than it earns.  In a roundabout, this looks like:  the policy stops moving to guarantee zero collisions and gets crushed by the time/efficiency cost.
Classic failure mode in safe-RL literature; we observed it directly.</a:t>
            </a:r>
          </a:p>
        </p:txBody>
      </p:sp>
      <p:sp>
        <p:nvSpPr>
          <p:cNvPr id="10" name="Rounded Rectangle 9"/>
          <p:cNvSpPr/>
          <p:nvPr/>
        </p:nvSpPr>
        <p:spPr>
          <a:xfrm>
            <a:off x="4297680" y="1417320"/>
            <a:ext cx="3749039"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97680" y="1417320"/>
            <a:ext cx="3749039"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80" y="1627632"/>
            <a:ext cx="3383279" cy="640080"/>
          </a:xfrm>
          <a:prstGeom prst="rect">
            <a:avLst/>
          </a:prstGeom>
          <a:noFill/>
        </p:spPr>
        <p:txBody>
          <a:bodyPr wrap="square" lIns="0" tIns="0" rIns="0" bIns="0" anchor="t">
            <a:spAutoFit/>
          </a:bodyPr>
          <a:lstStyle/>
          <a:p>
            <a:pPr algn="l"/>
            <a:r>
              <a:rPr sz="1300" b="1">
                <a:solidFill>
                  <a:srgbClr val="F59E0B"/>
                </a:solidFill>
                <a:latin typeface="Calibri"/>
              </a:rPr>
              <a:t>Intersection:  CMDP gives no advantage</a:t>
            </a:r>
          </a:p>
        </p:txBody>
      </p:sp>
      <p:sp>
        <p:nvSpPr>
          <p:cNvPr id="13" name="TextBox 12"/>
          <p:cNvSpPr txBox="1"/>
          <p:nvPr/>
        </p:nvSpPr>
        <p:spPr>
          <a:xfrm>
            <a:off x="4526280" y="2240280"/>
            <a:ext cx="3383279" cy="3657600"/>
          </a:xfrm>
          <a:prstGeom prst="rect">
            <a:avLst/>
          </a:prstGeom>
          <a:noFill/>
        </p:spPr>
        <p:txBody>
          <a:bodyPr wrap="square" lIns="0" tIns="0" rIns="0" bIns="0" anchor="t">
            <a:spAutoFit/>
          </a:bodyPr>
          <a:lstStyle/>
          <a:p>
            <a:pPr algn="l"/>
            <a:r>
              <a:rPr sz="1100" b="0">
                <a:solidFill>
                  <a:srgbClr val="0F294B"/>
                </a:solidFill>
                <a:latin typeface="Calibri"/>
              </a:rPr>
              <a:t>PPO 50 %, PPOLag 50 %, CPO 45 %.
Episode length on intersection-v1 is only ~4 steps before crash.  The cost critic gets too few samples to learn V_c well, so the constraint signal is essentially noise.
Implication:  CMDP is not a free lunch.  Sparse-cost / short-horizon tasks need different machinery (e.g. recovery shielding).</a:t>
            </a:r>
          </a:p>
        </p:txBody>
      </p:sp>
      <p:sp>
        <p:nvSpPr>
          <p:cNvPr id="14" name="Rounded Rectangle 13"/>
          <p:cNvSpPr/>
          <p:nvPr/>
        </p:nvSpPr>
        <p:spPr>
          <a:xfrm>
            <a:off x="8138160" y="1417320"/>
            <a:ext cx="3749039"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38160" y="1417320"/>
            <a:ext cx="3749039"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627632"/>
            <a:ext cx="3383279" cy="640080"/>
          </a:xfrm>
          <a:prstGeom prst="rect">
            <a:avLst/>
          </a:prstGeom>
          <a:noFill/>
        </p:spPr>
        <p:txBody>
          <a:bodyPr wrap="square" lIns="0" tIns="0" rIns="0" bIns="0" anchor="t">
            <a:spAutoFit/>
          </a:bodyPr>
          <a:lstStyle/>
          <a:p>
            <a:pPr algn="l"/>
            <a:r>
              <a:rPr sz="1300" b="1">
                <a:solidFill>
                  <a:srgbClr val="2563EB"/>
                </a:solidFill>
                <a:latin typeface="Calibri"/>
              </a:rPr>
              <a:t>CPO:  brittle on discrete + short budget</a:t>
            </a:r>
          </a:p>
        </p:txBody>
      </p:sp>
      <p:sp>
        <p:nvSpPr>
          <p:cNvPr id="17" name="TextBox 16"/>
          <p:cNvSpPr txBox="1"/>
          <p:nvPr/>
        </p:nvSpPr>
        <p:spPr>
          <a:xfrm>
            <a:off x="8366760" y="2240280"/>
            <a:ext cx="3383279" cy="3657600"/>
          </a:xfrm>
          <a:prstGeom prst="rect">
            <a:avLst/>
          </a:prstGeom>
          <a:noFill/>
        </p:spPr>
        <p:txBody>
          <a:bodyPr wrap="square" lIns="0" tIns="0" rIns="0" bIns="0" anchor="t">
            <a:spAutoFit/>
          </a:bodyPr>
          <a:lstStyle/>
          <a:p>
            <a:pPr algn="l"/>
            <a:r>
              <a:rPr sz="1100" b="0">
                <a:solidFill>
                  <a:srgbClr val="0F294B"/>
                </a:solidFill>
                <a:latin typeface="Calibri"/>
              </a:rPr>
              <a:t>100 % collision on Merge and Highway.
CPO uses a trust-region update with conjugate-gradient on the cost advantage.  With sparse cost (one bit per crash) and only 600 training steps per run, the cost critic is too noisy → CG produces unsafe directions.
PPOLag's PID Lagrangian is more sample-efficient here; this is a real algorithmic finding, not a bug in our code.</a:t>
            </a:r>
          </a:p>
        </p:txBody>
      </p:sp>
      <p:sp>
        <p:nvSpPr>
          <p:cNvPr id="18" name="TextBox 17"/>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Reward vs. safety frontier</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11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All 12 (algorithm × scenario) cells on one plot. Top-left dominates.</a:t>
            </a:r>
          </a:p>
        </p:txBody>
      </p:sp>
      <p:pic>
        <p:nvPicPr>
          <p:cNvPr id="6" name="Picture 5" descr="reward_vs_safety.png"/>
          <p:cNvPicPr>
            <a:picLocks noChangeAspect="1"/>
          </p:cNvPicPr>
          <p:nvPr/>
        </p:nvPicPr>
        <p:blipFill>
          <a:blip r:embed="rId3"/>
          <a:stretch>
            <a:fillRect/>
          </a:stretch>
        </p:blipFill>
        <p:spPr>
          <a:xfrm>
            <a:off x="457200" y="1417320"/>
            <a:ext cx="6949440" cy="5191432"/>
          </a:xfrm>
          <a:prstGeom prst="rect">
            <a:avLst/>
          </a:prstGeom>
        </p:spPr>
      </p:pic>
      <p:sp>
        <p:nvSpPr>
          <p:cNvPr id="7" name="Rounded Rectangle 6"/>
          <p:cNvSpPr/>
          <p:nvPr/>
        </p:nvSpPr>
        <p:spPr>
          <a:xfrm>
            <a:off x="7680960" y="1417320"/>
            <a:ext cx="411480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09560" y="1554480"/>
            <a:ext cx="3657600" cy="365760"/>
          </a:xfrm>
          <a:prstGeom prst="rect">
            <a:avLst/>
          </a:prstGeom>
          <a:noFill/>
        </p:spPr>
        <p:txBody>
          <a:bodyPr wrap="square" lIns="0" tIns="0" rIns="0" bIns="0" anchor="t">
            <a:spAutoFit/>
          </a:bodyPr>
          <a:lstStyle/>
          <a:p>
            <a:pPr algn="l"/>
            <a:r>
              <a:rPr sz="1400" b="1">
                <a:solidFill>
                  <a:srgbClr val="2563EB"/>
                </a:solidFill>
                <a:latin typeface="Calibri"/>
              </a:rPr>
              <a:t>What this shows</a:t>
            </a:r>
          </a:p>
        </p:txBody>
      </p:sp>
      <p:sp>
        <p:nvSpPr>
          <p:cNvPr id="9" name="TextBox 8"/>
          <p:cNvSpPr txBox="1"/>
          <p:nvPr/>
        </p:nvSpPr>
        <p:spPr>
          <a:xfrm>
            <a:off x="7909560" y="2011680"/>
            <a:ext cx="3657600" cy="3840480"/>
          </a:xfrm>
          <a:prstGeom prst="rect">
            <a:avLst/>
          </a:prstGeom>
          <a:noFill/>
        </p:spPr>
        <p:txBody>
          <a:bodyPr wrap="square" lIns="0" tIns="0" rIns="0" bIns="0">
            <a:spAutoFit/>
          </a:bodyPr>
          <a:lstStyle/>
          <a:p>
            <a:pPr algn="l">
              <a:lnSpc>
                <a:spcPct val="125000"/>
              </a:lnSpc>
              <a:spcAft>
                <a:spcPts val="400"/>
              </a:spcAft>
            </a:pPr>
            <a:r>
              <a:rPr sz="1200" b="1">
                <a:solidFill>
                  <a:srgbClr val="64748B"/>
                </a:solidFill>
                <a:latin typeface="Calibri"/>
              </a:rPr>
              <a:t>•  </a:t>
            </a:r>
            <a:r>
              <a:rPr sz="1200">
                <a:solidFill>
                  <a:srgbClr val="0F294B"/>
                </a:solidFill>
                <a:latin typeface="Calibri"/>
              </a:rPr>
              <a:t>PPOLag/Merge sits alone in the top-left quadrant — high reward AND low collision.</a:t>
            </a:r>
          </a:p>
          <a:p>
            <a:pPr algn="l">
              <a:lnSpc>
                <a:spcPct val="125000"/>
              </a:lnSpc>
              <a:spcAft>
                <a:spcPts val="400"/>
              </a:spcAft>
            </a:pPr>
            <a:r>
              <a:rPr sz="1200" b="1">
                <a:solidFill>
                  <a:srgbClr val="64748B"/>
                </a:solidFill>
                <a:latin typeface="Calibri"/>
              </a:rPr>
              <a:t>•  </a:t>
            </a:r>
            <a:r>
              <a:rPr sz="1200">
                <a:solidFill>
                  <a:srgbClr val="0F294B"/>
                </a:solidFill>
                <a:latin typeface="Calibri"/>
              </a:rPr>
              <a:t>CPO/Highway, CPO/Merge collapse to 100 % collision.</a:t>
            </a:r>
          </a:p>
          <a:p>
            <a:pPr algn="l">
              <a:lnSpc>
                <a:spcPct val="125000"/>
              </a:lnSpc>
              <a:spcAft>
                <a:spcPts val="400"/>
              </a:spcAft>
            </a:pPr>
            <a:r>
              <a:rPr sz="1200" b="1">
                <a:solidFill>
                  <a:srgbClr val="64748B"/>
                </a:solidFill>
                <a:latin typeface="Calibri"/>
              </a:rPr>
              <a:t>•  </a:t>
            </a:r>
            <a:r>
              <a:rPr sz="1200">
                <a:solidFill>
                  <a:srgbClr val="0F294B"/>
                </a:solidFill>
                <a:latin typeface="Calibri"/>
              </a:rPr>
              <a:t>Intersection cluster (~45-50 %) is the same regardless of algorithm — confirming our Slide 10 diagnosis.</a:t>
            </a:r>
          </a:p>
          <a:p>
            <a:pPr algn="l">
              <a:lnSpc>
                <a:spcPct val="125000"/>
              </a:lnSpc>
              <a:spcAft>
                <a:spcPts val="400"/>
              </a:spcAft>
            </a:pPr>
            <a:r>
              <a:rPr sz="1200" b="1">
                <a:solidFill>
                  <a:srgbClr val="64748B"/>
                </a:solidFill>
                <a:latin typeface="Calibri"/>
              </a:rPr>
              <a:t>•  </a:t>
            </a:r>
            <a:r>
              <a:rPr sz="1200">
                <a:solidFill>
                  <a:srgbClr val="0F294B"/>
                </a:solidFill>
                <a:latin typeface="Calibri"/>
              </a:rPr>
              <a:t>Significance:  Merge collision p = 0.000;  reward p = 0.002 (Welch t-test, PPOLag vs CPO).</a:t>
            </a:r>
          </a:p>
        </p:txBody>
      </p:sp>
      <p:sp>
        <p:nvSpPr>
          <p:cNvPr id="10" name="TextBox 9"/>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Live demo:  PPO vs PPOLag on merge-v0</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13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~33 seconds, side-by-side, same seeds, same dense traffic.  File:  figures/ppo_vs_ppolag_demo.mp4</a:t>
            </a:r>
          </a:p>
        </p:txBody>
      </p:sp>
      <p:pic>
        <p:nvPicPr>
          <p:cNvPr id="6" name="Picture 5" descr="demo_poster.png"/>
          <p:cNvPicPr>
            <a:picLocks noChangeAspect="1"/>
          </p:cNvPicPr>
          <p:nvPr/>
        </p:nvPicPr>
        <p:blipFill>
          <a:blip r:embed="rId5"/>
          <a:stretch>
            <a:fillRect/>
          </a:stretch>
        </p:blipFill>
        <p:spPr>
          <a:xfrm>
            <a:off x="640080" y="1417320"/>
            <a:ext cx="10908792" cy="2157783"/>
          </a:xfrm>
          <a:prstGeom prst="rect">
            <a:avLst/>
          </a:prstGeom>
        </p:spPr>
      </p:pic>
      <p:pic>
        <p:nvPicPr>
          <p:cNvPr id="7" name="ppo_vs_ppolag_demo.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40080" y="1417320"/>
            <a:ext cx="10908792" cy="4023360"/>
          </a:xfrm>
          <a:prstGeom prst="rect">
            <a:avLst/>
          </a:prstGeom>
        </p:spPr>
      </p:pic>
      <p:sp>
        <p:nvSpPr>
          <p:cNvPr id="8" name="Rounded Rectangle 7"/>
          <p:cNvSpPr/>
          <p:nvPr/>
        </p:nvSpPr>
        <p:spPr>
          <a:xfrm>
            <a:off x="640080" y="4983480"/>
            <a:ext cx="10908792" cy="6400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5074920"/>
            <a:ext cx="10515600" cy="457200"/>
          </a:xfrm>
          <a:prstGeom prst="rect">
            <a:avLst/>
          </a:prstGeom>
          <a:noFill/>
        </p:spPr>
        <p:txBody>
          <a:bodyPr wrap="square" lIns="0" tIns="0" rIns="0" bIns="0" anchor="t">
            <a:spAutoFit/>
          </a:bodyPr>
          <a:lstStyle/>
          <a:p>
            <a:pPr algn="l"/>
            <a:r>
              <a:rPr sz="1200" b="1">
                <a:solidFill>
                  <a:srgbClr val="0F294B"/>
                </a:solidFill>
                <a:latin typeface="Calibri"/>
              </a:rPr>
              <a:t>Finding: both policies use 0 % LANE_LEFT.  PPOLag's safety strategy is 98.5 % SLOWER — it learned to brake, not to merge cleverly.</a:t>
            </a:r>
          </a:p>
        </p:txBody>
      </p:sp>
      <p:sp>
        <p:nvSpPr>
          <p:cNvPr id="10" name="Rounded Rectangle 9"/>
          <p:cNvSpPr/>
          <p:nvPr/>
        </p:nvSpPr>
        <p:spPr>
          <a:xfrm>
            <a:off x="457200" y="5669280"/>
            <a:ext cx="11274552" cy="77724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5779008"/>
            <a:ext cx="10698480" cy="548640"/>
          </a:xfrm>
          <a:prstGeom prst="rect">
            <a:avLst/>
          </a:prstGeom>
          <a:noFill/>
        </p:spPr>
        <p:txBody>
          <a:bodyPr wrap="square" lIns="0" tIns="0" rIns="0" bIns="0" anchor="t">
            <a:spAutoFit/>
          </a:bodyPr>
          <a:lstStyle/>
          <a:p>
            <a:pPr algn="l"/>
            <a:r>
              <a:rPr sz="1200" b="0">
                <a:solidFill>
                  <a:srgbClr val="0F294B"/>
                </a:solidFill>
                <a:latin typeface="Calibri"/>
              </a:rPr>
              <a:t>Watch for:  PPO often races into closing gaps and clips a neighbor.  PPOLag waits ~1 extra step, takes the gap behind, and still completes the merge — the +14 % episode length on slide 6.</a:t>
            </a:r>
          </a:p>
        </p:txBody>
      </p:sp>
      <p:sp>
        <p:nvSpPr>
          <p:cNvPr id="12" name="TextBox 11"/>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All four scenarios — what each policy learns</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14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20-second tour: each env plays for ~5 s with its own trained policy.  File:  all_envs_demo.mp4</a:t>
            </a:r>
          </a:p>
        </p:txBody>
      </p:sp>
      <p:pic>
        <p:nvPicPr>
          <p:cNvPr id="6" name="Picture 5" descr="all_envs_poster.png"/>
          <p:cNvPicPr>
            <a:picLocks noChangeAspect="1"/>
          </p:cNvPicPr>
          <p:nvPr/>
        </p:nvPicPr>
        <p:blipFill>
          <a:blip r:embed="rId5"/>
          <a:stretch>
            <a:fillRect/>
          </a:stretch>
        </p:blipFill>
        <p:spPr>
          <a:xfrm>
            <a:off x="457200" y="1417320"/>
            <a:ext cx="6858000" cy="2971800"/>
          </a:xfrm>
          <a:prstGeom prst="rect">
            <a:avLst/>
          </a:prstGeom>
        </p:spPr>
      </p:pic>
      <p:pic>
        <p:nvPicPr>
          <p:cNvPr id="7" name="all_envs_demo.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57200" y="1417320"/>
            <a:ext cx="6858000" cy="2468880"/>
          </a:xfrm>
          <a:prstGeom prst="rect">
            <a:avLst/>
          </a:prstGeom>
        </p:spPr>
      </p:pic>
      <p:sp>
        <p:nvSpPr>
          <p:cNvPr id="8" name="Rounded Rectangle 7"/>
          <p:cNvSpPr/>
          <p:nvPr/>
        </p:nvSpPr>
        <p:spPr>
          <a:xfrm>
            <a:off x="7543800" y="1417320"/>
            <a:ext cx="4206240" cy="489204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26679" y="1554480"/>
            <a:ext cx="3931920" cy="365760"/>
          </a:xfrm>
          <a:prstGeom prst="rect">
            <a:avLst/>
          </a:prstGeom>
          <a:noFill/>
        </p:spPr>
        <p:txBody>
          <a:bodyPr wrap="square" lIns="0" tIns="0" rIns="0" bIns="0" anchor="t">
            <a:spAutoFit/>
          </a:bodyPr>
          <a:lstStyle/>
          <a:p>
            <a:pPr algn="l"/>
            <a:r>
              <a:rPr sz="1300" b="1">
                <a:solidFill>
                  <a:srgbClr val="2563EB"/>
                </a:solidFill>
                <a:latin typeface="Calibri"/>
              </a:rPr>
              <a:t>Per-scenario behaviour</a:t>
            </a:r>
          </a:p>
        </p:txBody>
      </p:sp>
      <p:sp>
        <p:nvSpPr>
          <p:cNvPr id="10" name="TextBox 9"/>
          <p:cNvSpPr txBox="1"/>
          <p:nvPr/>
        </p:nvSpPr>
        <p:spPr>
          <a:xfrm>
            <a:off x="7726679" y="1965960"/>
            <a:ext cx="3931920" cy="256032"/>
          </a:xfrm>
          <a:prstGeom prst="rect">
            <a:avLst/>
          </a:prstGeom>
          <a:noFill/>
        </p:spPr>
        <p:txBody>
          <a:bodyPr wrap="square" lIns="0" tIns="0" rIns="0" bIns="0" anchor="t">
            <a:spAutoFit/>
          </a:bodyPr>
          <a:lstStyle/>
          <a:p>
            <a:pPr algn="l"/>
            <a:r>
              <a:rPr sz="1200" b="1">
                <a:solidFill>
                  <a:srgbClr val="16A34A"/>
                </a:solidFill>
                <a:latin typeface="Calibri"/>
              </a:rPr>
              <a:t>Merge</a:t>
            </a:r>
          </a:p>
        </p:txBody>
      </p:sp>
      <p:sp>
        <p:nvSpPr>
          <p:cNvPr id="11" name="TextBox 10"/>
          <p:cNvSpPr txBox="1"/>
          <p:nvPr/>
        </p:nvSpPr>
        <p:spPr>
          <a:xfrm>
            <a:off x="7726679" y="2221992"/>
            <a:ext cx="3931920" cy="237744"/>
          </a:xfrm>
          <a:prstGeom prst="rect">
            <a:avLst/>
          </a:prstGeom>
          <a:noFill/>
        </p:spPr>
        <p:txBody>
          <a:bodyPr wrap="square" lIns="0" tIns="0" rIns="0" bIns="0" anchor="t">
            <a:spAutoFit/>
          </a:bodyPr>
          <a:lstStyle/>
          <a:p>
            <a:pPr algn="l"/>
            <a:r>
              <a:rPr sz="1000" b="1">
                <a:solidFill>
                  <a:srgbClr val="0F294B"/>
                </a:solidFill>
                <a:latin typeface="Calibri"/>
              </a:rPr>
              <a:t>0/3 crashes  (0 %)</a:t>
            </a:r>
          </a:p>
        </p:txBody>
      </p:sp>
      <p:sp>
        <p:nvSpPr>
          <p:cNvPr id="12" name="TextBox 11"/>
          <p:cNvSpPr txBox="1"/>
          <p:nvPr/>
        </p:nvSpPr>
        <p:spPr>
          <a:xfrm>
            <a:off x="7726679" y="2459736"/>
            <a:ext cx="3931920" cy="237744"/>
          </a:xfrm>
          <a:prstGeom prst="rect">
            <a:avLst/>
          </a:prstGeom>
          <a:noFill/>
        </p:spPr>
        <p:txBody>
          <a:bodyPr wrap="square" lIns="0" tIns="0" rIns="0" bIns="0" anchor="t">
            <a:spAutoFit/>
          </a:bodyPr>
          <a:lstStyle/>
          <a:p>
            <a:pPr algn="l"/>
            <a:r>
              <a:rPr sz="1000" b="0">
                <a:solidFill>
                  <a:srgbClr val="64748B"/>
                </a:solidFill>
                <a:latin typeface="Calibri"/>
              </a:rPr>
              <a:t>SLOWER 97 %, IDLE 3 %</a:t>
            </a:r>
          </a:p>
        </p:txBody>
      </p:sp>
      <p:sp>
        <p:nvSpPr>
          <p:cNvPr id="13" name="TextBox 12"/>
          <p:cNvSpPr txBox="1"/>
          <p:nvPr/>
        </p:nvSpPr>
        <p:spPr>
          <a:xfrm>
            <a:off x="7726679" y="2697480"/>
            <a:ext cx="3931920" cy="237744"/>
          </a:xfrm>
          <a:prstGeom prst="rect">
            <a:avLst/>
          </a:prstGeom>
          <a:noFill/>
        </p:spPr>
        <p:txBody>
          <a:bodyPr wrap="square" lIns="0" tIns="0" rIns="0" bIns="0" anchor="t">
            <a:spAutoFit/>
          </a:bodyPr>
          <a:lstStyle/>
          <a:p>
            <a:pPr algn="l"/>
            <a:r>
              <a:rPr sz="1000" b="0">
                <a:solidFill>
                  <a:srgbClr val="0F294B"/>
                </a:solidFill>
                <a:latin typeface="Calibri"/>
              </a:rPr>
              <a:t>brake-only — geometry forces merge</a:t>
            </a:r>
          </a:p>
        </p:txBody>
      </p:sp>
      <p:sp>
        <p:nvSpPr>
          <p:cNvPr id="14" name="TextBox 13"/>
          <p:cNvSpPr txBox="1"/>
          <p:nvPr/>
        </p:nvSpPr>
        <p:spPr>
          <a:xfrm>
            <a:off x="7726679" y="3044952"/>
            <a:ext cx="3931920" cy="256032"/>
          </a:xfrm>
          <a:prstGeom prst="rect">
            <a:avLst/>
          </a:prstGeom>
          <a:noFill/>
        </p:spPr>
        <p:txBody>
          <a:bodyPr wrap="square" lIns="0" tIns="0" rIns="0" bIns="0" anchor="t">
            <a:spAutoFit/>
          </a:bodyPr>
          <a:lstStyle/>
          <a:p>
            <a:pPr algn="l"/>
            <a:r>
              <a:rPr sz="1200" b="1">
                <a:solidFill>
                  <a:srgbClr val="2563EB"/>
                </a:solidFill>
                <a:latin typeface="Calibri"/>
              </a:rPr>
              <a:t>Highway</a:t>
            </a:r>
          </a:p>
        </p:txBody>
      </p:sp>
      <p:sp>
        <p:nvSpPr>
          <p:cNvPr id="15" name="TextBox 14"/>
          <p:cNvSpPr txBox="1"/>
          <p:nvPr/>
        </p:nvSpPr>
        <p:spPr>
          <a:xfrm>
            <a:off x="7726679" y="3300984"/>
            <a:ext cx="3931920" cy="237744"/>
          </a:xfrm>
          <a:prstGeom prst="rect">
            <a:avLst/>
          </a:prstGeom>
          <a:noFill/>
        </p:spPr>
        <p:txBody>
          <a:bodyPr wrap="square" lIns="0" tIns="0" rIns="0" bIns="0" anchor="t">
            <a:spAutoFit/>
          </a:bodyPr>
          <a:lstStyle/>
          <a:p>
            <a:pPr algn="l"/>
            <a:r>
              <a:rPr sz="1000" b="1">
                <a:solidFill>
                  <a:srgbClr val="0F294B"/>
                </a:solidFill>
                <a:latin typeface="Calibri"/>
              </a:rPr>
              <a:t>0/1 crashes  (0 %)</a:t>
            </a:r>
          </a:p>
        </p:txBody>
      </p:sp>
      <p:sp>
        <p:nvSpPr>
          <p:cNvPr id="16" name="TextBox 15"/>
          <p:cNvSpPr txBox="1"/>
          <p:nvPr/>
        </p:nvSpPr>
        <p:spPr>
          <a:xfrm>
            <a:off x="7726679" y="3538728"/>
            <a:ext cx="3931920" cy="237744"/>
          </a:xfrm>
          <a:prstGeom prst="rect">
            <a:avLst/>
          </a:prstGeom>
          <a:noFill/>
        </p:spPr>
        <p:txBody>
          <a:bodyPr wrap="square" lIns="0" tIns="0" rIns="0" bIns="0" anchor="t">
            <a:spAutoFit/>
          </a:bodyPr>
          <a:lstStyle/>
          <a:p>
            <a:pPr algn="l"/>
            <a:r>
              <a:rPr sz="1000" b="0">
                <a:solidFill>
                  <a:srgbClr val="64748B"/>
                </a:solidFill>
                <a:latin typeface="Calibri"/>
              </a:rPr>
              <a:t>SLOWER 100 %</a:t>
            </a:r>
          </a:p>
        </p:txBody>
      </p:sp>
      <p:sp>
        <p:nvSpPr>
          <p:cNvPr id="17" name="TextBox 16"/>
          <p:cNvSpPr txBox="1"/>
          <p:nvPr/>
        </p:nvSpPr>
        <p:spPr>
          <a:xfrm>
            <a:off x="7726679" y="3776472"/>
            <a:ext cx="3931920" cy="237744"/>
          </a:xfrm>
          <a:prstGeom prst="rect">
            <a:avLst/>
          </a:prstGeom>
          <a:noFill/>
        </p:spPr>
        <p:txBody>
          <a:bodyPr wrap="square" lIns="0" tIns="0" rIns="0" bIns="0" anchor="t">
            <a:spAutoFit/>
          </a:bodyPr>
          <a:lstStyle/>
          <a:p>
            <a:pPr algn="l"/>
            <a:r>
              <a:rPr sz="1000" b="0">
                <a:solidFill>
                  <a:srgbClr val="0F294B"/>
                </a:solidFill>
                <a:latin typeface="Calibri"/>
              </a:rPr>
              <a:t>brake-only — lazy optimum</a:t>
            </a:r>
          </a:p>
        </p:txBody>
      </p:sp>
      <p:sp>
        <p:nvSpPr>
          <p:cNvPr id="18" name="TextBox 17"/>
          <p:cNvSpPr txBox="1"/>
          <p:nvPr/>
        </p:nvSpPr>
        <p:spPr>
          <a:xfrm>
            <a:off x="7726679" y="4123944"/>
            <a:ext cx="3931920" cy="256032"/>
          </a:xfrm>
          <a:prstGeom prst="rect">
            <a:avLst/>
          </a:prstGeom>
          <a:noFill/>
        </p:spPr>
        <p:txBody>
          <a:bodyPr wrap="square" lIns="0" tIns="0" rIns="0" bIns="0" anchor="t">
            <a:spAutoFit/>
          </a:bodyPr>
          <a:lstStyle/>
          <a:p>
            <a:pPr algn="l"/>
            <a:r>
              <a:rPr sz="1200" b="1">
                <a:solidFill>
                  <a:srgbClr val="DC2626"/>
                </a:solidFill>
                <a:latin typeface="Calibri"/>
              </a:rPr>
              <a:t>Roundabout</a:t>
            </a:r>
          </a:p>
        </p:txBody>
      </p:sp>
      <p:sp>
        <p:nvSpPr>
          <p:cNvPr id="19" name="TextBox 18"/>
          <p:cNvSpPr txBox="1"/>
          <p:nvPr/>
        </p:nvSpPr>
        <p:spPr>
          <a:xfrm>
            <a:off x="7726679" y="4379976"/>
            <a:ext cx="3931920" cy="237744"/>
          </a:xfrm>
          <a:prstGeom prst="rect">
            <a:avLst/>
          </a:prstGeom>
          <a:noFill/>
        </p:spPr>
        <p:txBody>
          <a:bodyPr wrap="square" lIns="0" tIns="0" rIns="0" bIns="0" anchor="t">
            <a:spAutoFit/>
          </a:bodyPr>
          <a:lstStyle/>
          <a:p>
            <a:pPr algn="l"/>
            <a:r>
              <a:rPr sz="1000" b="1">
                <a:solidFill>
                  <a:srgbClr val="0F294B"/>
                </a:solidFill>
                <a:latin typeface="Calibri"/>
              </a:rPr>
              <a:t>2/6 crashes  (33 %)</a:t>
            </a:r>
          </a:p>
        </p:txBody>
      </p:sp>
      <p:sp>
        <p:nvSpPr>
          <p:cNvPr id="20" name="TextBox 19"/>
          <p:cNvSpPr txBox="1"/>
          <p:nvPr/>
        </p:nvSpPr>
        <p:spPr>
          <a:xfrm>
            <a:off x="7726679" y="4617720"/>
            <a:ext cx="3931920" cy="237744"/>
          </a:xfrm>
          <a:prstGeom prst="rect">
            <a:avLst/>
          </a:prstGeom>
          <a:noFill/>
        </p:spPr>
        <p:txBody>
          <a:bodyPr wrap="square" lIns="0" tIns="0" rIns="0" bIns="0" anchor="t">
            <a:spAutoFit/>
          </a:bodyPr>
          <a:lstStyle/>
          <a:p>
            <a:pPr algn="l"/>
            <a:r>
              <a:rPr sz="1000" b="0">
                <a:solidFill>
                  <a:srgbClr val="64748B"/>
                </a:solidFill>
                <a:latin typeface="Calibri"/>
              </a:rPr>
              <a:t>FAST 53 %, IDLE 22 %, LANE 13 %</a:t>
            </a:r>
          </a:p>
        </p:txBody>
      </p:sp>
      <p:sp>
        <p:nvSpPr>
          <p:cNvPr id="21" name="TextBox 20"/>
          <p:cNvSpPr txBox="1"/>
          <p:nvPr/>
        </p:nvSpPr>
        <p:spPr>
          <a:xfrm>
            <a:off x="7726679" y="4855464"/>
            <a:ext cx="3931920" cy="237744"/>
          </a:xfrm>
          <a:prstGeom prst="rect">
            <a:avLst/>
          </a:prstGeom>
          <a:noFill/>
        </p:spPr>
        <p:txBody>
          <a:bodyPr wrap="square" lIns="0" tIns="0" rIns="0" bIns="0" anchor="t">
            <a:spAutoFit/>
          </a:bodyPr>
          <a:lstStyle/>
          <a:p>
            <a:pPr algn="l"/>
            <a:r>
              <a:rPr sz="1000" b="0">
                <a:solidFill>
                  <a:srgbClr val="0F294B"/>
                </a:solidFill>
                <a:latin typeface="Calibri"/>
              </a:rPr>
              <a:t>uses lane changes — still crashes</a:t>
            </a:r>
          </a:p>
        </p:txBody>
      </p:sp>
      <p:sp>
        <p:nvSpPr>
          <p:cNvPr id="22" name="TextBox 21"/>
          <p:cNvSpPr txBox="1"/>
          <p:nvPr/>
        </p:nvSpPr>
        <p:spPr>
          <a:xfrm>
            <a:off x="7726679" y="5202936"/>
            <a:ext cx="3931920" cy="256032"/>
          </a:xfrm>
          <a:prstGeom prst="rect">
            <a:avLst/>
          </a:prstGeom>
          <a:noFill/>
        </p:spPr>
        <p:txBody>
          <a:bodyPr wrap="square" lIns="0" tIns="0" rIns="0" bIns="0" anchor="t">
            <a:spAutoFit/>
          </a:bodyPr>
          <a:lstStyle/>
          <a:p>
            <a:pPr algn="l"/>
            <a:r>
              <a:rPr sz="1200" b="1">
                <a:solidFill>
                  <a:srgbClr val="DC2626"/>
                </a:solidFill>
                <a:latin typeface="Calibri"/>
              </a:rPr>
              <a:t>Intersection</a:t>
            </a:r>
          </a:p>
        </p:txBody>
      </p:sp>
      <p:sp>
        <p:nvSpPr>
          <p:cNvPr id="23" name="TextBox 22"/>
          <p:cNvSpPr txBox="1"/>
          <p:nvPr/>
        </p:nvSpPr>
        <p:spPr>
          <a:xfrm>
            <a:off x="7726679" y="5458968"/>
            <a:ext cx="3931920" cy="237744"/>
          </a:xfrm>
          <a:prstGeom prst="rect">
            <a:avLst/>
          </a:prstGeom>
          <a:noFill/>
        </p:spPr>
        <p:txBody>
          <a:bodyPr wrap="square" lIns="0" tIns="0" rIns="0" bIns="0" anchor="t">
            <a:spAutoFit/>
          </a:bodyPr>
          <a:lstStyle/>
          <a:p>
            <a:pPr algn="l"/>
            <a:r>
              <a:rPr sz="1000" b="1">
                <a:solidFill>
                  <a:srgbClr val="0F294B"/>
                </a:solidFill>
                <a:latin typeface="Calibri"/>
              </a:rPr>
              <a:t>9/18 crashes  (50 %)</a:t>
            </a:r>
          </a:p>
        </p:txBody>
      </p:sp>
      <p:sp>
        <p:nvSpPr>
          <p:cNvPr id="24" name="TextBox 23"/>
          <p:cNvSpPr txBox="1"/>
          <p:nvPr/>
        </p:nvSpPr>
        <p:spPr>
          <a:xfrm>
            <a:off x="7726679" y="5696712"/>
            <a:ext cx="3931920" cy="237744"/>
          </a:xfrm>
          <a:prstGeom prst="rect">
            <a:avLst/>
          </a:prstGeom>
          <a:noFill/>
        </p:spPr>
        <p:txBody>
          <a:bodyPr wrap="square" lIns="0" tIns="0" rIns="0" bIns="0" anchor="t">
            <a:spAutoFit/>
          </a:bodyPr>
          <a:lstStyle/>
          <a:p>
            <a:pPr algn="l"/>
            <a:r>
              <a:rPr sz="1000" b="0">
                <a:solidFill>
                  <a:srgbClr val="64748B"/>
                </a:solidFill>
                <a:latin typeface="Calibri"/>
              </a:rPr>
              <a:t>FAST 67 %, LANE 15 %, SLOWER 8 %</a:t>
            </a:r>
          </a:p>
        </p:txBody>
      </p:sp>
      <p:sp>
        <p:nvSpPr>
          <p:cNvPr id="25" name="TextBox 24"/>
          <p:cNvSpPr txBox="1"/>
          <p:nvPr/>
        </p:nvSpPr>
        <p:spPr>
          <a:xfrm>
            <a:off x="7726679" y="5934456"/>
            <a:ext cx="3931920" cy="237744"/>
          </a:xfrm>
          <a:prstGeom prst="rect">
            <a:avLst/>
          </a:prstGeom>
          <a:noFill/>
        </p:spPr>
        <p:txBody>
          <a:bodyPr wrap="square" lIns="0" tIns="0" rIns="0" bIns="0" anchor="t">
            <a:spAutoFit/>
          </a:bodyPr>
          <a:lstStyle/>
          <a:p>
            <a:pPr algn="l"/>
            <a:r>
              <a:rPr sz="1000" b="0">
                <a:solidFill>
                  <a:srgbClr val="0F294B"/>
                </a:solidFill>
                <a:latin typeface="Calibri"/>
              </a:rPr>
              <a:t>uses lane changes — still crashes</a:t>
            </a:r>
          </a:p>
        </p:txBody>
      </p:sp>
      <p:sp>
        <p:nvSpPr>
          <p:cNvPr id="26" name="Rounded Rectangle 25"/>
          <p:cNvSpPr/>
          <p:nvPr/>
        </p:nvSpPr>
        <p:spPr>
          <a:xfrm>
            <a:off x="457200" y="4069080"/>
            <a:ext cx="6858000" cy="22402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4206240"/>
            <a:ext cx="6400800" cy="365760"/>
          </a:xfrm>
          <a:prstGeom prst="rect">
            <a:avLst/>
          </a:prstGeom>
          <a:noFill/>
        </p:spPr>
        <p:txBody>
          <a:bodyPr wrap="square" lIns="0" tIns="0" rIns="0" bIns="0" anchor="t">
            <a:spAutoFit/>
          </a:bodyPr>
          <a:lstStyle/>
          <a:p>
            <a:pPr algn="l"/>
            <a:r>
              <a:rPr sz="1300" b="1">
                <a:solidFill>
                  <a:srgbClr val="0F294B"/>
                </a:solidFill>
                <a:latin typeface="Calibri"/>
              </a:rPr>
              <a:t>What the demo reveals</a:t>
            </a:r>
          </a:p>
        </p:txBody>
      </p:sp>
      <p:sp>
        <p:nvSpPr>
          <p:cNvPr id="28" name="TextBox 27"/>
          <p:cNvSpPr txBox="1"/>
          <p:nvPr/>
        </p:nvSpPr>
        <p:spPr>
          <a:xfrm>
            <a:off x="685800" y="4572000"/>
            <a:ext cx="6400800" cy="274320"/>
          </a:xfrm>
          <a:prstGeom prst="rect">
            <a:avLst/>
          </a:prstGeom>
          <a:noFill/>
        </p:spPr>
        <p:txBody>
          <a:bodyPr wrap="square" lIns="0" tIns="0" rIns="0" bIns="0" anchor="t">
            <a:spAutoFit/>
          </a:bodyPr>
          <a:lstStyle/>
          <a:p>
            <a:pPr algn="l"/>
            <a:r>
              <a:rPr sz="1100" b="0">
                <a:solidFill>
                  <a:srgbClr val="0F294B"/>
                </a:solidFill>
                <a:latin typeface="Calibri"/>
              </a:rPr>
              <a:t>Linear-flow tasks (merge, highway):  policy collapses to ~100 % SLOWER.</a:t>
            </a:r>
          </a:p>
        </p:txBody>
      </p:sp>
      <p:sp>
        <p:nvSpPr>
          <p:cNvPr id="29" name="TextBox 28"/>
          <p:cNvSpPr txBox="1"/>
          <p:nvPr/>
        </p:nvSpPr>
        <p:spPr>
          <a:xfrm>
            <a:off x="685800" y="4846320"/>
            <a:ext cx="6400800" cy="274320"/>
          </a:xfrm>
          <a:prstGeom prst="rect">
            <a:avLst/>
          </a:prstGeom>
          <a:noFill/>
        </p:spPr>
        <p:txBody>
          <a:bodyPr wrap="square" lIns="0" tIns="0" rIns="0" bIns="0" anchor="t">
            <a:spAutoFit/>
          </a:bodyPr>
          <a:lstStyle/>
          <a:p>
            <a:pPr algn="l"/>
            <a:r>
              <a:rPr sz="1100" b="0">
                <a:solidFill>
                  <a:srgbClr val="0F294B"/>
                </a:solidFill>
                <a:latin typeface="Calibri"/>
              </a:rPr>
              <a:t>Geometry-complex tasks (roundabout, intersection):  policy DOES use</a:t>
            </a:r>
          </a:p>
        </p:txBody>
      </p:sp>
      <p:sp>
        <p:nvSpPr>
          <p:cNvPr id="30" name="TextBox 29"/>
          <p:cNvSpPr txBox="1"/>
          <p:nvPr/>
        </p:nvSpPr>
        <p:spPr>
          <a:xfrm>
            <a:off x="685800" y="5120640"/>
            <a:ext cx="6400800" cy="274320"/>
          </a:xfrm>
          <a:prstGeom prst="rect">
            <a:avLst/>
          </a:prstGeom>
          <a:noFill/>
        </p:spPr>
        <p:txBody>
          <a:bodyPr wrap="square" lIns="0" tIns="0" rIns="0" bIns="0" anchor="t">
            <a:spAutoFit/>
          </a:bodyPr>
          <a:lstStyle/>
          <a:p>
            <a:pPr algn="l"/>
            <a:r>
              <a:rPr sz="1100" b="0">
                <a:solidFill>
                  <a:srgbClr val="0F294B"/>
                </a:solidFill>
                <a:latin typeface="Calibri"/>
              </a:rPr>
              <a:t>12-15 % lane-change actions — but 3 k-step training is too short to</a:t>
            </a:r>
          </a:p>
        </p:txBody>
      </p:sp>
      <p:sp>
        <p:nvSpPr>
          <p:cNvPr id="31" name="TextBox 30"/>
          <p:cNvSpPr txBox="1"/>
          <p:nvPr/>
        </p:nvSpPr>
        <p:spPr>
          <a:xfrm>
            <a:off x="685800" y="5394960"/>
            <a:ext cx="6400800" cy="274320"/>
          </a:xfrm>
          <a:prstGeom prst="rect">
            <a:avLst/>
          </a:prstGeom>
          <a:noFill/>
        </p:spPr>
        <p:txBody>
          <a:bodyPr wrap="square" lIns="0" tIns="0" rIns="0" bIns="0" anchor="t">
            <a:spAutoFit/>
          </a:bodyPr>
          <a:lstStyle/>
          <a:p>
            <a:pPr algn="l"/>
            <a:r>
              <a:rPr sz="1100" b="0">
                <a:solidFill>
                  <a:srgbClr val="0F294B"/>
                </a:solidFill>
                <a:latin typeface="Calibri"/>
              </a:rPr>
              <a:t>drive them well, so crash rate stays at 33-50 %.</a:t>
            </a:r>
          </a:p>
        </p:txBody>
      </p:sp>
      <p:sp>
        <p:nvSpPr>
          <p:cNvPr id="32" name="TextBox 31"/>
          <p:cNvSpPr txBox="1"/>
          <p:nvPr/>
        </p:nvSpPr>
        <p:spPr>
          <a:xfrm>
            <a:off x="685800" y="5669280"/>
            <a:ext cx="6400800" cy="274320"/>
          </a:xfrm>
          <a:prstGeom prst="rect">
            <a:avLst/>
          </a:prstGeom>
          <a:noFill/>
        </p:spPr>
        <p:txBody>
          <a:bodyPr wrap="square" lIns="0" tIns="0" rIns="0" bIns="0" anchor="t">
            <a:spAutoFit/>
          </a:bodyPr>
          <a:lstStyle/>
          <a:p>
            <a:pPr algn="l"/>
            <a:endParaRPr/>
          </a:p>
        </p:txBody>
      </p:sp>
      <p:sp>
        <p:nvSpPr>
          <p:cNvPr id="33" name="TextBox 32"/>
          <p:cNvSpPr txBox="1"/>
          <p:nvPr/>
        </p:nvSpPr>
        <p:spPr>
          <a:xfrm>
            <a:off x="685800" y="5943600"/>
            <a:ext cx="6400800" cy="274320"/>
          </a:xfrm>
          <a:prstGeom prst="rect">
            <a:avLst/>
          </a:prstGeom>
          <a:noFill/>
        </p:spPr>
        <p:txBody>
          <a:bodyPr wrap="square" lIns="0" tIns="0" rIns="0" bIns="0" anchor="t">
            <a:spAutoFit/>
          </a:bodyPr>
          <a:lstStyle/>
          <a:p>
            <a:pPr algn="l"/>
            <a:r>
              <a:rPr sz="1100" b="1">
                <a:solidFill>
                  <a:srgbClr val="0F294B"/>
                </a:solidFill>
                <a:latin typeface="Calibri"/>
              </a:rPr>
              <a:t>Confirms paper's claim is robust on linear merges; open on intersections.</a:t>
            </a:r>
          </a:p>
        </p:txBody>
      </p:sp>
      <p:sp>
        <p:nvSpPr>
          <p:cNvPr id="34" name="TextBox 33"/>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Take-aways</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15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500" b="0">
                <a:solidFill>
                  <a:srgbClr val="64748B"/>
                </a:solidFill>
                <a:latin typeface="Calibri"/>
              </a:rPr>
              <a:t>Three things we want you to remember.</a:t>
            </a:r>
          </a:p>
        </p:txBody>
      </p:sp>
      <p:sp>
        <p:nvSpPr>
          <p:cNvPr id="6" name="Rounded Rectangle 5"/>
          <p:cNvSpPr/>
          <p:nvPr/>
        </p:nvSpPr>
        <p:spPr>
          <a:xfrm>
            <a:off x="457200" y="1417320"/>
            <a:ext cx="11274552" cy="141732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40080" y="1691640"/>
            <a:ext cx="868680" cy="868680"/>
          </a:xfrm>
          <a:prstGeom prst="ellipse">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783080"/>
            <a:ext cx="868680" cy="731520"/>
          </a:xfrm>
          <a:prstGeom prst="rect">
            <a:avLst/>
          </a:prstGeom>
          <a:noFill/>
        </p:spPr>
        <p:txBody>
          <a:bodyPr wrap="square" lIns="0" tIns="0" rIns="0" bIns="0" anchor="t">
            <a:spAutoFit/>
          </a:bodyPr>
          <a:lstStyle/>
          <a:p>
            <a:pPr algn="ctr"/>
            <a:r>
              <a:rPr sz="2800" b="1">
                <a:solidFill>
                  <a:srgbClr val="FFFFFF"/>
                </a:solidFill>
                <a:latin typeface="Calibri"/>
              </a:rPr>
              <a:t>1</a:t>
            </a:r>
          </a:p>
        </p:txBody>
      </p:sp>
      <p:sp>
        <p:nvSpPr>
          <p:cNvPr id="9" name="TextBox 8"/>
          <p:cNvSpPr txBox="1"/>
          <p:nvPr/>
        </p:nvSpPr>
        <p:spPr>
          <a:xfrm>
            <a:off x="1691640" y="1581912"/>
            <a:ext cx="9601200" cy="457200"/>
          </a:xfrm>
          <a:prstGeom prst="rect">
            <a:avLst/>
          </a:prstGeom>
          <a:noFill/>
        </p:spPr>
        <p:txBody>
          <a:bodyPr wrap="square" lIns="0" tIns="0" rIns="0" bIns="0" anchor="t">
            <a:spAutoFit/>
          </a:bodyPr>
          <a:lstStyle/>
          <a:p>
            <a:pPr algn="l"/>
            <a:r>
              <a:rPr sz="1800" b="1">
                <a:solidFill>
                  <a:srgbClr val="0F294B"/>
                </a:solidFill>
                <a:latin typeface="Calibri"/>
              </a:rPr>
              <a:t>Decoupling matters.</a:t>
            </a:r>
          </a:p>
        </p:txBody>
      </p:sp>
      <p:sp>
        <p:nvSpPr>
          <p:cNvPr id="10" name="TextBox 9"/>
          <p:cNvSpPr txBox="1"/>
          <p:nvPr/>
        </p:nvSpPr>
        <p:spPr>
          <a:xfrm>
            <a:off x="1691640" y="2057400"/>
            <a:ext cx="9601200" cy="777240"/>
          </a:xfrm>
          <a:prstGeom prst="rect">
            <a:avLst/>
          </a:prstGeom>
          <a:noFill/>
        </p:spPr>
        <p:txBody>
          <a:bodyPr wrap="square" lIns="0" tIns="0" rIns="0" bIns="0" anchor="t">
            <a:spAutoFit/>
          </a:bodyPr>
          <a:lstStyle/>
          <a:p>
            <a:pPr algn="l"/>
            <a:r>
              <a:rPr sz="1300" b="0">
                <a:solidFill>
                  <a:srgbClr val="0F294B"/>
                </a:solidFill>
                <a:latin typeface="Calibri"/>
              </a:rPr>
              <a:t>The CMDP framework only delivers when reward is reward-only.  Setting collision_reward = 0 is what unlocks the 40 % → 9 % gap.</a:t>
            </a:r>
          </a:p>
        </p:txBody>
      </p:sp>
      <p:sp>
        <p:nvSpPr>
          <p:cNvPr id="11" name="Rounded Rectangle 10"/>
          <p:cNvSpPr/>
          <p:nvPr/>
        </p:nvSpPr>
        <p:spPr>
          <a:xfrm>
            <a:off x="457200" y="2971800"/>
            <a:ext cx="11274552" cy="141732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0080" y="3246120"/>
            <a:ext cx="868680" cy="868680"/>
          </a:xfrm>
          <a:prstGeom prst="ellipse">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 y="3337560"/>
            <a:ext cx="868680" cy="731520"/>
          </a:xfrm>
          <a:prstGeom prst="rect">
            <a:avLst/>
          </a:prstGeom>
          <a:noFill/>
        </p:spPr>
        <p:txBody>
          <a:bodyPr wrap="square" lIns="0" tIns="0" rIns="0" bIns="0" anchor="t">
            <a:spAutoFit/>
          </a:bodyPr>
          <a:lstStyle/>
          <a:p>
            <a:pPr algn="ctr"/>
            <a:r>
              <a:rPr sz="2800" b="1">
                <a:solidFill>
                  <a:srgbClr val="FFFFFF"/>
                </a:solidFill>
                <a:latin typeface="Calibri"/>
              </a:rPr>
              <a:t>2</a:t>
            </a:r>
          </a:p>
        </p:txBody>
      </p:sp>
      <p:sp>
        <p:nvSpPr>
          <p:cNvPr id="14" name="TextBox 13"/>
          <p:cNvSpPr txBox="1"/>
          <p:nvPr/>
        </p:nvSpPr>
        <p:spPr>
          <a:xfrm>
            <a:off x="1691640" y="3136392"/>
            <a:ext cx="9601200" cy="457200"/>
          </a:xfrm>
          <a:prstGeom prst="rect">
            <a:avLst/>
          </a:prstGeom>
          <a:noFill/>
        </p:spPr>
        <p:txBody>
          <a:bodyPr wrap="square" lIns="0" tIns="0" rIns="0" bIns="0" anchor="t">
            <a:spAutoFit/>
          </a:bodyPr>
          <a:lstStyle/>
          <a:p>
            <a:pPr algn="l"/>
            <a:r>
              <a:rPr sz="1800" b="1">
                <a:solidFill>
                  <a:srgbClr val="0F294B"/>
                </a:solidFill>
                <a:latin typeface="Calibri"/>
              </a:rPr>
              <a:t>Discrete-action PPOLag often collapses to braking.</a:t>
            </a:r>
          </a:p>
        </p:txBody>
      </p:sp>
      <p:sp>
        <p:nvSpPr>
          <p:cNvPr id="15" name="TextBox 14"/>
          <p:cNvSpPr txBox="1"/>
          <p:nvPr/>
        </p:nvSpPr>
        <p:spPr>
          <a:xfrm>
            <a:off x="1691640" y="3611880"/>
            <a:ext cx="9601200" cy="777240"/>
          </a:xfrm>
          <a:prstGeom prst="rect">
            <a:avLst/>
          </a:prstGeom>
          <a:noFill/>
        </p:spPr>
        <p:txBody>
          <a:bodyPr wrap="square" lIns="0" tIns="0" rIns="0" bIns="0" anchor="t">
            <a:spAutoFit/>
          </a:bodyPr>
          <a:lstStyle/>
          <a:p>
            <a:pPr algn="l"/>
            <a:r>
              <a:rPr sz="1300" b="0">
                <a:solidFill>
                  <a:srgbClr val="0F294B"/>
                </a:solidFill>
                <a:latin typeface="Calibri"/>
              </a:rPr>
              <a:t>On merge and highway the policy converges to ~100 % SLOWER.  Roundabout and intersection demand actual driving skill — short-budget training doesn't reach it.</a:t>
            </a:r>
          </a:p>
        </p:txBody>
      </p:sp>
      <p:sp>
        <p:nvSpPr>
          <p:cNvPr id="16" name="Rounded Rectangle 15"/>
          <p:cNvSpPr/>
          <p:nvPr/>
        </p:nvSpPr>
        <p:spPr>
          <a:xfrm>
            <a:off x="457200" y="4526280"/>
            <a:ext cx="11274552" cy="141732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40080" y="4800600"/>
            <a:ext cx="868680" cy="868680"/>
          </a:xfrm>
          <a:prstGeom prst="ellipse">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 y="4892040"/>
            <a:ext cx="868680" cy="731520"/>
          </a:xfrm>
          <a:prstGeom prst="rect">
            <a:avLst/>
          </a:prstGeom>
          <a:noFill/>
        </p:spPr>
        <p:txBody>
          <a:bodyPr wrap="square" lIns="0" tIns="0" rIns="0" bIns="0" anchor="t">
            <a:spAutoFit/>
          </a:bodyPr>
          <a:lstStyle/>
          <a:p>
            <a:pPr algn="ctr"/>
            <a:r>
              <a:rPr sz="2800" b="1">
                <a:solidFill>
                  <a:srgbClr val="FFFFFF"/>
                </a:solidFill>
                <a:latin typeface="Calibri"/>
              </a:rPr>
              <a:t>3</a:t>
            </a:r>
          </a:p>
        </p:txBody>
      </p:sp>
      <p:sp>
        <p:nvSpPr>
          <p:cNvPr id="19" name="TextBox 18"/>
          <p:cNvSpPr txBox="1"/>
          <p:nvPr/>
        </p:nvSpPr>
        <p:spPr>
          <a:xfrm>
            <a:off x="1691640" y="4690872"/>
            <a:ext cx="9601200" cy="457200"/>
          </a:xfrm>
          <a:prstGeom prst="rect">
            <a:avLst/>
          </a:prstGeom>
          <a:noFill/>
        </p:spPr>
        <p:txBody>
          <a:bodyPr wrap="square" lIns="0" tIns="0" rIns="0" bIns="0" anchor="t">
            <a:spAutoFit/>
          </a:bodyPr>
          <a:lstStyle/>
          <a:p>
            <a:pPr algn="l"/>
            <a:r>
              <a:rPr sz="1800" b="1">
                <a:solidFill>
                  <a:srgbClr val="0F294B"/>
                </a:solidFill>
                <a:latin typeface="Calibri"/>
              </a:rPr>
              <a:t>Honesty beats hype.</a:t>
            </a:r>
          </a:p>
        </p:txBody>
      </p:sp>
      <p:sp>
        <p:nvSpPr>
          <p:cNvPr id="20" name="TextBox 19"/>
          <p:cNvSpPr txBox="1"/>
          <p:nvPr/>
        </p:nvSpPr>
        <p:spPr>
          <a:xfrm>
            <a:off x="1691640" y="5166360"/>
            <a:ext cx="9601200" cy="777240"/>
          </a:xfrm>
          <a:prstGeom prst="rect">
            <a:avLst/>
          </a:prstGeom>
          <a:noFill/>
        </p:spPr>
        <p:txBody>
          <a:bodyPr wrap="square" lIns="0" tIns="0" rIns="0" bIns="0" anchor="t">
            <a:spAutoFit/>
          </a:bodyPr>
          <a:lstStyle/>
          <a:p>
            <a:pPr algn="l"/>
            <a:r>
              <a:rPr sz="1300" b="0">
                <a:solidFill>
                  <a:srgbClr val="0F294B"/>
                </a:solidFill>
                <a:latin typeface="Calibri"/>
              </a:rPr>
              <a:t>We report negative results, large CIs, and missing baselines (WCSAC, cooperative drivers).  We surface them rather than hide them.</a:t>
            </a:r>
          </a:p>
        </p:txBody>
      </p:sp>
      <p:sp>
        <p:nvSpPr>
          <p:cNvPr id="21" name="TextBox 20"/>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200400"/>
            <a:ext cx="12191695"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011680"/>
            <a:ext cx="11247120" cy="1107996"/>
          </a:xfrm>
          <a:prstGeom prst="rect">
            <a:avLst/>
          </a:prstGeom>
          <a:noFill/>
        </p:spPr>
        <p:txBody>
          <a:bodyPr wrap="square" lIns="0" tIns="0" rIns="0" bIns="0" anchor="t">
            <a:spAutoFit/>
          </a:bodyPr>
          <a:lstStyle/>
          <a:p>
            <a:pPr algn="ctr"/>
            <a:r>
              <a:rPr lang="en-US" sz="7200" b="1" dirty="0">
                <a:solidFill>
                  <a:srgbClr val="FFFFFF"/>
                </a:solidFill>
                <a:latin typeface="Calibri"/>
              </a:rPr>
              <a:t>Thank You!</a:t>
            </a:r>
            <a:endParaRPr sz="7200" b="1" dirty="0">
              <a:solidFill>
                <a:srgbClr val="FFFFFF"/>
              </a:solidFill>
              <a:latin typeface="Calibri"/>
            </a:endParaRPr>
          </a:p>
        </p:txBody>
      </p:sp>
      <p:sp>
        <p:nvSpPr>
          <p:cNvPr id="8" name="TextBox 7"/>
          <p:cNvSpPr txBox="1"/>
          <p:nvPr/>
        </p:nvSpPr>
        <p:spPr>
          <a:xfrm>
            <a:off x="457200" y="6217920"/>
            <a:ext cx="11247120" cy="365760"/>
          </a:xfrm>
          <a:prstGeom prst="rect">
            <a:avLst/>
          </a:prstGeom>
          <a:noFill/>
        </p:spPr>
        <p:txBody>
          <a:bodyPr wrap="square" lIns="0" tIns="0" rIns="0" bIns="0" anchor="t">
            <a:spAutoFit/>
          </a:bodyPr>
          <a:lstStyle/>
          <a:p>
            <a:pPr algn="ctr"/>
            <a:r>
              <a:rPr sz="1100" b="0">
                <a:solidFill>
                  <a:srgbClr val="94A3B8"/>
                </a:solidFill>
                <a:latin typeface="Calibri"/>
              </a:rPr>
              <a:t>Group 7  ·  CS 699 Spring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TotalTime>
  <Words>4364</Words>
  <Application>Microsoft Macintosh PowerPoint</Application>
  <PresentationFormat>Widescreen</PresentationFormat>
  <Paragraphs>210</Paragraphs>
  <Slides>16</Slides>
  <Notes>16</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伯年 韩</cp:lastModifiedBy>
  <cp:revision>2</cp:revision>
  <dcterms:created xsi:type="dcterms:W3CDTF">2013-01-27T09:14:16Z</dcterms:created>
  <dcterms:modified xsi:type="dcterms:W3CDTF">2026-05-04T02:45:57Z</dcterms:modified>
  <cp:category/>
</cp:coreProperties>
</file>