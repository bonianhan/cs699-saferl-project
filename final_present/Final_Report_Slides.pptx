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2945"/>
  </p:normalViewPr>
  <p:slideViewPr>
    <p:cSldViewPr snapToGrid="0" snapToObjects="1">
      <p:cViewPr varScale="1">
        <p:scale>
          <a:sx n="77" d="100"/>
          <a:sy n="77" d="100"/>
        </p:scale>
        <p:origin x="24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0015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[CHANGES vs original main.tex deck] (1) Original title slide had no concrete numbers — just paper title + date.  We added a 'What this talk delivers' line with the headline stats (4 envs, 3 algos, 2 seeds, ~40 experiments, 1500 LoC, 2 paper-bug fixes, 1 honest negative result, live demo) so the audience knows what to expect in 30 seconds. (2) Added accent stripe and bold typography hierarchy to make this look less like a default beamer template.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[CHANGES vs original deck] Original 'Project Recap' slide had four sparse 1-line bullets ('Paper / Task / Agent / Question') with no explanation of WHY any of this matters. New version splits the page into (a) a numbered project goal panel with four concrete objectives — replicate, extend to 3 new scenarios, compare 3 algorithms, report honest stats — and (b) a paper panel that states the paper's central claim in one sentence.  Now the audience knows what we set out to do AND what hypothesis we are testing, instead of just 'we are working on the Kamran paper'.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[ENTIRE SLIDE IS NEW — did not exist in the original deck] The original LaTeX deck never told the audience what work we actually did.  We had built two paper-code bug fixes, one design insight, and an end-to-end experiment harness, but none of that was on a slide. This new slide makes our engineering effort explicit: (1) </a:t>
            </a:r>
            <a:r>
              <a:rPr dirty="0" err="1"/>
              <a:t>CostWrapper</a:t>
            </a:r>
            <a:r>
              <a:rPr dirty="0"/>
              <a:t> — paper's open code reads info['cost'] but highway-env emits info['crashed'], so the constraint was effectively dead.  We fixed it. (2) Decouple reward &amp; cost — </a:t>
            </a:r>
            <a:r>
              <a:rPr dirty="0" err="1"/>
              <a:t>collision_reward</a:t>
            </a:r>
            <a:r>
              <a:rPr dirty="0"/>
              <a:t> defaulted to a non-zero value, so PPO was already avoiding crashes via reward shaping.  We set it to 0 so safety is enforced ONLY via the cost constraint. (3) Discrete-action adaptation — FSRL ships continuous Gaussian actors; we wrote Categorical actors and a discrete-aware collector. (4) Experiment harness — </a:t>
            </a:r>
            <a:r>
              <a:rPr dirty="0" err="1"/>
              <a:t>saferl_suite.py</a:t>
            </a:r>
            <a:r>
              <a:rPr dirty="0"/>
              <a:t> + </a:t>
            </a:r>
            <a:r>
              <a:rPr dirty="0" err="1"/>
              <a:t>run_roadmap.py</a:t>
            </a:r>
            <a:r>
              <a:rPr dirty="0"/>
              <a:t> for the 4 env x 3 algo x 2 seed sweep, ~1500 </a:t>
            </a:r>
            <a:r>
              <a:rPr dirty="0" err="1"/>
              <a:t>LoC.</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[CHANGES vs original deck] Original 'Why Constrained RL' slide had the conceptual reward-shaping vs CMDP comparison, but never told the audience what concrete value of the cost limit d we actually used. Fixes: (1) Spelled out d = 0.1 in the equation block on the right. (2) Added 'cost </a:t>
            </a:r>
            <a:r>
              <a:rPr dirty="0" err="1"/>
              <a:t>c_t</a:t>
            </a:r>
            <a:r>
              <a:rPr dirty="0"/>
              <a:t> = 1 if crashed else 0' so the cost signal is unambiguous. (3) Added a navy footer band listing every hyperparameter we used (PID gains, learning rates, epochs, steps, eval episodes) so readers can reproduce the merge result exactly without digging into code. Now the slide does double duty: framing AND reproducibility.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[ENTIRE SLIDE IS NEW — did not exist in the original deck] This slide makes the case that our 'collision_reward = 0' fix is the design decision that unlocks the paper's claimed safety gain. Left chart, two cases side by side: Case A (reward-shaped, paper's default collision_reward = -1) — PPO and PPOLag both end at ~5 % collision.  No measurable gap.  The constraint adds nothing because reward already penalizes crashes. Case B (decoupled, our fix collision_reward = 0) — PPO crashes 40 %, PPOLag crashes 9 %.  77 % reduction.  Now the CMDP framework is doing real work. This is the most important slide in the deck and the cleanest demonstration of why the paper's open-source code didn't actually showcase the paper's claim.  Right column gives the read-this-plot guide for non-experts.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[CHANGES vs original deck] Original 'Replication Result' slide had the same bar chart but only two metrics labelled (collision and reward).  Improvements: (1) Added a 4-row numerical table on the right with PPO, </a:t>
            </a:r>
            <a:r>
              <a:rPr dirty="0" err="1"/>
              <a:t>PPOLag</a:t>
            </a:r>
            <a:r>
              <a:rPr dirty="0"/>
              <a:t>, and a </a:t>
            </a:r>
            <a:r>
              <a:rPr dirty="0" err="1"/>
              <a:t>Δ</a:t>
            </a:r>
            <a:r>
              <a:rPr dirty="0"/>
              <a:t> column — easier to cite exact numbers in Q&amp;A. (2) Added the line '9 % satisfies the constraint d = 0.1' so the audience sees that the result is not just 'better' but actually solves the constrained optimization. (3) Added the episode-length observation (+14 %) — </a:t>
            </a:r>
            <a:r>
              <a:rPr dirty="0" err="1"/>
              <a:t>PPOLag</a:t>
            </a:r>
            <a:r>
              <a:rPr dirty="0"/>
              <a:t> drives longer per episode, supporting the 'more careful, not faster' narrative.  Original deck mentioned reward and collision but never the length signal. </a:t>
            </a:r>
            <a:r>
              <a:t>(4) Made the training budget explicit in the subtitle (20 epochs x 4000 steps, 100 eval episodes, seed 42).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[CHANGES vs original deck] Original 'Did PPOLag Learn Safety' slide showed THREE plots — reward, cost, and length — but ONLY for PPOLag.  The audience could not tell whether PPO would have learned safety on its own with more training. Fix: this version overlays PPO and PPOLag on the SAME axes for both cost and reward.  Two key findings now visible: (a) PPOLag's cost crosses below d = 0.1 at epoch 5 and stays there — the Lagrangian is tracking the constraint. (b) PPO's cost oscillates between 0.2 and 0.7 the whole way — it never gets close to the constraint regardless of training time. This is direct sample-efficiency evidence that the previous deck was missing.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[CHANGES vs original deck] Original 'Safety Results by Scenario' slide compared only CPO and PPOLag — the baseline PPO was missing entirely.  This was a major gap: the paper's whole point is that constrained RL beats unconstrained RL, and we had hidden the unconstrained baseline. Fix: this version is a 3-bar chart per scenario (PPO red, PPOLag green, CPO blue), data drawn from roadmap_results.  Right column: per-scenario verdict in 1 line each — Merge wins, Highway wins, Roundabout tie, Intersection fails — so the audience can read the result without parsing every error bar. Bottom caveat warns about the short training budget so the absolute numbers are not confused with the 80 k-step merge replication.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[ENTIRE SLIDE IS NEW — did not exist in the original deck] Anticipating a Q&amp;A challenge: 'How do we know the </a:t>
            </a:r>
            <a:r>
              <a:rPr dirty="0" err="1"/>
              <a:t>Lagrangian</a:t>
            </a:r>
            <a:r>
              <a:rPr dirty="0"/>
              <a:t> is actually working and you didn't just give </a:t>
            </a:r>
            <a:r>
              <a:rPr dirty="0" err="1"/>
              <a:t>PPOLag</a:t>
            </a:r>
            <a:r>
              <a:rPr dirty="0"/>
              <a:t> a tighter penalty?' Ideally we would log the Lagrange multiplier lambda directly, but FSRL's </a:t>
            </a:r>
            <a:r>
              <a:rPr dirty="0" err="1"/>
              <a:t>PPOLagrangian</a:t>
            </a:r>
            <a:r>
              <a:rPr dirty="0"/>
              <a:t> doesn't expose it cleanly without monkey-patching. The next-best evidence is the cost curve itself: the smooth descent toward d = 0.1 followed by stable oscillation around the limit is the </a:t>
            </a:r>
            <a:r>
              <a:rPr dirty="0" err="1"/>
              <a:t>behaviour</a:t>
            </a:r>
            <a:r>
              <a:rPr dirty="0"/>
              <a:t> you'd expect from a converged PI-style controller, not from a fixed penalty.  We shaded the feasible region (cost &lt;= d) green and infeasible red so the convergence pattern is visually obvious.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[ENTIRE SLIDE IS NEW — did not exist in the original deck] The original deck had ONE bullet 'CPO looks unstable here' on the frontier slide and never returned to it.  That left two findings buried in the CSVs that the audience would otherwise miss: (1) Roundabout PPOLag freezing-robot — avg reward = -0.44.  Negative reward in this env means the policy stops moving and gets crushed by the time-cost.  This is a textbook safe-RL failure mode (the policy satisfies the constraint trivially by not driving). (2) Intersection — episodes are only ~4 steps before crash.  The cost critic V_c never sees enough crash samples to learn, so the constraint signal is essentially noise.  CMDP fails here for structural reasons, not bad hyperparameters. (3) CPO — 100 % collision on Merge &amp; Highway is a real algorithm finding (sparse cost + short budget breaks trust-region updates), not a bug in our implementation. Acknowledging these explicitly is what an audience trusts; hiding them is what they probe.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[CHANGES vs original deck] The frontier scatter itself is reused from the milestone3 LaTeX deck (slides/figures/reward_vs_safety.png).  What is new on this slide is the explicit numerical significance: PPOLag vs CPO on Merge gives p = 0.000 for collision rate and p = 0.002 for reward (Welch t-test, taken from tradeoff_results/significance_tests.csv).  Adding these p-values turns 'PPOLag is better' into 'PPOLag is significantly better at the 0.01 level on the merge benchmark', which is the tighter claim a reviewer would want to hear.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[ENTIRE SLIDE IS NEW — original deck had no demo video] 33-second side-by-side mp4 (ppo_vs_ppolag_demo.mp4) embedded in the pptx (PowerPoint plays it natively; PDF export shows the poster frame).  Same seeds 100-123, same dense-traffic config.  Final tally: PPO 6/24 crashes, PPOLag 3/24 crashes — the trend matches the headline 40 % vs 9 % from slide 6, just with a smaller sample. Orange callout below the video reports the surprise finding from logging the action distribution: BOTH policies use 0 % LANE_LEFT. PPOLag's safety strategy is 98.5 % SLOWER — it learned to BRAKE, not to MERGE CLEVERLY.  The merge happens because the on-ramp geometrically forces the ego onto the highway. This reframes our headline result: the constraint is satisfied, but by 'don't drive aggressively' rather than by 'learn to drive safely'. Honest finding worth volunteering before someone asks.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[ENTIRE SLIDE IS NEW — added in response to the audience question 'do other tasks behave like merge?'] 20-second sequential demo (all_envs_demo.mp4) — each env plays for 5 s with its own trained policy.  For merge we use the full PPOLag (80 k steps).  For highway/roundabout/intersection we use a Quick PPO that we trained from scratch in pure PyTorch for 3000 steps (~2 minutes per env on CPU) just to get past random behaviour. Right column lists per-scenario action distribution and crash rate. Headline finding: linear-flow tasks (merge, highway) collapse to ~100 % SLOWER — the brake-only 'lazy optimum'.  Geometry-complex tasks (roundabout, intersection) actually USE 12-15 % lane-change actions, but 3 k steps is too few to drive them well, so crash rate stays at 33-50 %. Take-home: paper's claim is robust on linear merges; the intersection question is open and probably needs more than a constraint to solve.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[CHANGES vs original deck] Original take-aways were: 'constrained RL is promising / safety gains are reproducible / broader validation needed' — generic. Rewrote to be specific to OUR findings: (1) Decoupling matters — collision_reward = 0 is the design decision that makes CMDP non-redundant, not a paper-stated assumption.  This is OUR contribution. (2) Discrete-action PPOLag often collapses to braking — directly from the action distribution data on slides 13 and 14.  Replaces the previous 'PPOLag generalizes partially' which was vaguer. (3) Honesty beats hype — points to the negative findings on slide 10 and the limitations on slide 12 as features, not bugs.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[CHANGES vs original deck] Original Q&amp;A slide just said 'Questions?' on white background. This version adds: (1) An explicit invitation 'We'd especially love feedback on slide 10 (negative findings)' — pre-emptively steers the discussion to the most interesting part of the work. (2) Reproducibility line — GitHub URL + the exact command 'python run_roadmap.py --epochs 20 --seeds 42 43 44' that runs the full sweep.  The audience can verify our claims without needing to ask. Visually it's a navy-block closing slide with an amber accent stripe to bookend the title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notesSlide" Target="../notesSlides/notesSlide13.xml"/><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7.xml"/><Relationship Id="rId4" Type="http://schemas.openxmlformats.org/officeDocument/2006/relationships/notesSlide" Target="../notesSlides/notesSlide14.xml"/><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20624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20624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80160"/>
            <a:ext cx="10515600" cy="215444"/>
          </a:xfrm>
          <a:prstGeom prst="rect">
            <a:avLst/>
          </a:prstGeom>
          <a:noFill/>
        </p:spPr>
        <p:txBody>
          <a:bodyPr wrap="square" lIns="0" tIns="0" rIns="0" bIns="0" anchor="t">
            <a:spAutoFit/>
          </a:bodyPr>
          <a:lstStyle/>
          <a:p>
            <a:pPr algn="l"/>
            <a:r>
              <a:rPr sz="1400" b="0" dirty="0">
                <a:solidFill>
                  <a:srgbClr val="CBD5E1"/>
                </a:solidFill>
                <a:latin typeface="Calibri"/>
              </a:rPr>
              <a:t>CS 699 · Reinforcement Learning · </a:t>
            </a:r>
            <a:r>
              <a:rPr lang="en-US" sz="1400" b="0" dirty="0">
                <a:solidFill>
                  <a:srgbClr val="CBD5E1"/>
                </a:solidFill>
                <a:latin typeface="Calibri"/>
              </a:rPr>
              <a:t>Project Final Demo</a:t>
            </a:r>
            <a:endParaRPr sz="1400" b="0" dirty="0">
              <a:solidFill>
                <a:srgbClr val="CBD5E1"/>
              </a:solidFill>
              <a:latin typeface="Calibri"/>
            </a:endParaRPr>
          </a:p>
        </p:txBody>
      </p:sp>
      <p:sp>
        <p:nvSpPr>
          <p:cNvPr id="5" name="TextBox 4"/>
          <p:cNvSpPr txBox="1"/>
          <p:nvPr/>
        </p:nvSpPr>
        <p:spPr>
          <a:xfrm>
            <a:off x="731520" y="1783080"/>
            <a:ext cx="10972800" cy="1463040"/>
          </a:xfrm>
          <a:prstGeom prst="rect">
            <a:avLst/>
          </a:prstGeom>
          <a:noFill/>
        </p:spPr>
        <p:txBody>
          <a:bodyPr wrap="square" lIns="0" tIns="0" rIns="0" bIns="0" anchor="t">
            <a:spAutoFit/>
          </a:bodyPr>
          <a:lstStyle/>
          <a:p>
            <a:pPr algn="l"/>
            <a:r>
              <a:rPr sz="4400" b="1">
                <a:solidFill>
                  <a:srgbClr val="FFFFFF"/>
                </a:solidFill>
                <a:latin typeface="Calibri"/>
              </a:rPr>
              <a:t>Safe Automated Driving with</a:t>
            </a:r>
          </a:p>
        </p:txBody>
      </p:sp>
      <p:sp>
        <p:nvSpPr>
          <p:cNvPr id="6" name="TextBox 5"/>
          <p:cNvSpPr txBox="1"/>
          <p:nvPr/>
        </p:nvSpPr>
        <p:spPr>
          <a:xfrm>
            <a:off x="731520" y="2423160"/>
            <a:ext cx="10972800" cy="914400"/>
          </a:xfrm>
          <a:prstGeom prst="rect">
            <a:avLst/>
          </a:prstGeom>
          <a:noFill/>
        </p:spPr>
        <p:txBody>
          <a:bodyPr wrap="square" lIns="0" tIns="0" rIns="0" bIns="0" anchor="t">
            <a:spAutoFit/>
          </a:bodyPr>
          <a:lstStyle/>
          <a:p>
            <a:pPr algn="l"/>
            <a:r>
              <a:rPr sz="4400" b="1">
                <a:solidFill>
                  <a:srgbClr val="FFFFFF"/>
                </a:solidFill>
                <a:latin typeface="Calibri"/>
              </a:rPr>
              <a:t>Constrained Reinforcement Learning</a:t>
            </a:r>
          </a:p>
        </p:txBody>
      </p:sp>
      <p:sp>
        <p:nvSpPr>
          <p:cNvPr id="7" name="TextBox 6"/>
          <p:cNvSpPr txBox="1"/>
          <p:nvPr/>
        </p:nvSpPr>
        <p:spPr>
          <a:xfrm>
            <a:off x="731520" y="3383280"/>
            <a:ext cx="10972800" cy="276999"/>
          </a:xfrm>
          <a:prstGeom prst="rect">
            <a:avLst/>
          </a:prstGeom>
          <a:noFill/>
        </p:spPr>
        <p:txBody>
          <a:bodyPr wrap="square" lIns="0" tIns="0" rIns="0" bIns="0" anchor="t">
            <a:spAutoFit/>
          </a:bodyPr>
          <a:lstStyle/>
          <a:p>
            <a:pPr algn="l"/>
            <a:r>
              <a:rPr lang="en-US" sz="1800" b="0" dirty="0">
                <a:solidFill>
                  <a:srgbClr val="F59E0B"/>
                </a:solidFill>
                <a:latin typeface="Calibri"/>
              </a:rPr>
              <a:t>Bonian Han; Junyu Lu</a:t>
            </a:r>
            <a:endParaRPr sz="1800" b="0" dirty="0">
              <a:solidFill>
                <a:srgbClr val="F59E0B"/>
              </a:solidFill>
              <a:latin typeface="Calibri"/>
            </a:endParaRPr>
          </a:p>
        </p:txBody>
      </p:sp>
      <p:sp>
        <p:nvSpPr>
          <p:cNvPr id="8" name="TextBox 7"/>
          <p:cNvSpPr txBox="1"/>
          <p:nvPr/>
        </p:nvSpPr>
        <p:spPr>
          <a:xfrm>
            <a:off x="731520" y="4663440"/>
            <a:ext cx="7315200" cy="365760"/>
          </a:xfrm>
          <a:prstGeom prst="rect">
            <a:avLst/>
          </a:prstGeom>
          <a:noFill/>
        </p:spPr>
        <p:txBody>
          <a:bodyPr wrap="square" lIns="0" tIns="0" rIns="0" bIns="0" anchor="t">
            <a:spAutoFit/>
          </a:bodyPr>
          <a:lstStyle/>
          <a:p>
            <a:pPr algn="l"/>
            <a:r>
              <a:rPr sz="1400" b="1" dirty="0">
                <a:solidFill>
                  <a:srgbClr val="0F294B"/>
                </a:solidFill>
                <a:latin typeface="Calibri"/>
              </a:rPr>
              <a:t>What this talk delivers</a:t>
            </a:r>
          </a:p>
        </p:txBody>
      </p:sp>
      <p:sp>
        <p:nvSpPr>
          <p:cNvPr id="9" name="TextBox 8"/>
          <p:cNvSpPr txBox="1"/>
          <p:nvPr/>
        </p:nvSpPr>
        <p:spPr>
          <a:xfrm>
            <a:off x="731520" y="5029200"/>
            <a:ext cx="10972800" cy="329184"/>
          </a:xfrm>
          <a:prstGeom prst="rect">
            <a:avLst/>
          </a:prstGeom>
          <a:noFill/>
        </p:spPr>
        <p:txBody>
          <a:bodyPr wrap="square" lIns="0" tIns="0" rIns="0" bIns="0" anchor="t">
            <a:spAutoFit/>
          </a:bodyPr>
          <a:lstStyle/>
          <a:p>
            <a:pPr algn="l"/>
            <a:r>
              <a:rPr sz="1400" b="0">
                <a:solidFill>
                  <a:srgbClr val="0F294B"/>
                </a:solidFill>
                <a:latin typeface="Calibri"/>
              </a:rPr>
              <a:t>▸  4 driving scenarios   ·   3 algorithms   ·   2 seeds   ·   ~40 experiments</a:t>
            </a:r>
          </a:p>
        </p:txBody>
      </p:sp>
      <p:sp>
        <p:nvSpPr>
          <p:cNvPr id="11" name="TextBox 10"/>
          <p:cNvSpPr txBox="1"/>
          <p:nvPr/>
        </p:nvSpPr>
        <p:spPr>
          <a:xfrm>
            <a:off x="731520" y="5449824"/>
            <a:ext cx="10972800" cy="329184"/>
          </a:xfrm>
          <a:prstGeom prst="rect">
            <a:avLst/>
          </a:prstGeom>
          <a:noFill/>
        </p:spPr>
        <p:txBody>
          <a:bodyPr wrap="square" lIns="0" tIns="0" rIns="0" bIns="0" anchor="t">
            <a:spAutoFit/>
          </a:bodyPr>
          <a:lstStyle/>
          <a:p>
            <a:pPr algn="l"/>
            <a:r>
              <a:rPr sz="1400" b="0" dirty="0">
                <a:solidFill>
                  <a:srgbClr val="0F294B"/>
                </a:solidFill>
                <a:latin typeface="Calibri"/>
              </a:rPr>
              <a:t>▸  Live demo:  PPO vs </a:t>
            </a:r>
            <a:r>
              <a:rPr sz="1400" b="0" dirty="0" err="1">
                <a:solidFill>
                  <a:srgbClr val="0F294B"/>
                </a:solidFill>
                <a:latin typeface="Calibri"/>
              </a:rPr>
              <a:t>PPOLag</a:t>
            </a:r>
            <a:r>
              <a:rPr sz="1400" b="0" dirty="0">
                <a:solidFill>
                  <a:srgbClr val="0F294B"/>
                </a:solidFill>
                <a:latin typeface="Calibri"/>
              </a:rPr>
              <a:t> side-by-side on merge-v0</a:t>
            </a:r>
          </a:p>
        </p:txBody>
      </p:sp>
      <p:sp>
        <p:nvSpPr>
          <p:cNvPr id="12" name="TextBox 11"/>
          <p:cNvSpPr txBox="1"/>
          <p:nvPr/>
        </p:nvSpPr>
        <p:spPr>
          <a:xfrm>
            <a:off x="73152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Group 7  ·  CS 699 Spring 2026  ·  github.com/BonianHan/CS699-SafeRL-Project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What we set out to do</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2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500" b="0">
                <a:solidFill>
                  <a:srgbClr val="64748B"/>
                </a:solidFill>
                <a:latin typeface="Calibri"/>
              </a:rPr>
              <a:t>Reproduce a safe-RL paper, then push it past the original benchmark.</a:t>
            </a:r>
          </a:p>
        </p:txBody>
      </p:sp>
      <p:sp>
        <p:nvSpPr>
          <p:cNvPr id="6" name="Rounded Rectangle 5"/>
          <p:cNvSpPr/>
          <p:nvPr/>
        </p:nvSpPr>
        <p:spPr>
          <a:xfrm>
            <a:off x="457200" y="1417320"/>
            <a:ext cx="5486400" cy="457200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54480"/>
            <a:ext cx="4937760" cy="365760"/>
          </a:xfrm>
          <a:prstGeom prst="rect">
            <a:avLst/>
          </a:prstGeom>
          <a:noFill/>
        </p:spPr>
        <p:txBody>
          <a:bodyPr wrap="square" lIns="0" tIns="0" rIns="0" bIns="0" anchor="t">
            <a:spAutoFit/>
          </a:bodyPr>
          <a:lstStyle/>
          <a:p>
            <a:pPr algn="l"/>
            <a:r>
              <a:rPr sz="1400" b="1">
                <a:solidFill>
                  <a:srgbClr val="2563EB"/>
                </a:solidFill>
                <a:latin typeface="Calibri"/>
              </a:rPr>
              <a:t>Project goal</a:t>
            </a:r>
          </a:p>
        </p:txBody>
      </p:sp>
      <p:sp>
        <p:nvSpPr>
          <p:cNvPr id="8" name="TextBox 7"/>
          <p:cNvSpPr txBox="1"/>
          <p:nvPr/>
        </p:nvSpPr>
        <p:spPr>
          <a:xfrm>
            <a:off x="731520" y="1965960"/>
            <a:ext cx="4937760" cy="3840480"/>
          </a:xfrm>
          <a:prstGeom prst="rect">
            <a:avLst/>
          </a:prstGeom>
          <a:noFill/>
        </p:spPr>
        <p:txBody>
          <a:bodyPr wrap="square" lIns="0" tIns="0" rIns="0" bIns="0">
            <a:spAutoFit/>
          </a:bodyPr>
          <a:lstStyle/>
          <a:p>
            <a:pPr algn="l">
              <a:lnSpc>
                <a:spcPct val="125000"/>
              </a:lnSpc>
              <a:spcAft>
                <a:spcPts val="400"/>
              </a:spcAft>
            </a:pPr>
            <a:r>
              <a:rPr sz="1400" b="1" dirty="0">
                <a:solidFill>
                  <a:srgbClr val="64748B"/>
                </a:solidFill>
                <a:latin typeface="Calibri"/>
              </a:rPr>
              <a:t>1.  </a:t>
            </a:r>
            <a:r>
              <a:rPr sz="1400" dirty="0">
                <a:solidFill>
                  <a:srgbClr val="0F294B"/>
                </a:solidFill>
                <a:latin typeface="Calibri"/>
              </a:rPr>
              <a:t>Replicate the paper's safety claim on merge-v0  (constrained RL beats reward-shaping)</a:t>
            </a:r>
          </a:p>
          <a:p>
            <a:pPr algn="l">
              <a:lnSpc>
                <a:spcPct val="125000"/>
              </a:lnSpc>
              <a:spcAft>
                <a:spcPts val="400"/>
              </a:spcAft>
            </a:pPr>
            <a:r>
              <a:rPr sz="1400" b="1" dirty="0">
                <a:solidFill>
                  <a:srgbClr val="64748B"/>
                </a:solidFill>
                <a:latin typeface="Calibri"/>
              </a:rPr>
              <a:t>2.  </a:t>
            </a:r>
            <a:r>
              <a:rPr sz="1400" dirty="0">
                <a:solidFill>
                  <a:srgbClr val="0F294B"/>
                </a:solidFill>
                <a:latin typeface="Calibri"/>
              </a:rPr>
              <a:t>Extend the same recipe to 3 more scenarios the paper never tested</a:t>
            </a:r>
          </a:p>
          <a:p>
            <a:pPr algn="l">
              <a:lnSpc>
                <a:spcPct val="125000"/>
              </a:lnSpc>
              <a:spcAft>
                <a:spcPts val="400"/>
              </a:spcAft>
            </a:pPr>
            <a:r>
              <a:rPr sz="1400" b="1" dirty="0">
                <a:solidFill>
                  <a:srgbClr val="64748B"/>
                </a:solidFill>
                <a:latin typeface="Calibri"/>
              </a:rPr>
              <a:t>3.  </a:t>
            </a:r>
            <a:r>
              <a:rPr sz="1400" dirty="0">
                <a:solidFill>
                  <a:srgbClr val="0F294B"/>
                </a:solidFill>
                <a:latin typeface="Calibri"/>
              </a:rPr>
              <a:t>Compare 3 algorithms (PPO, </a:t>
            </a:r>
            <a:r>
              <a:rPr sz="1400" dirty="0" err="1">
                <a:solidFill>
                  <a:srgbClr val="0F294B"/>
                </a:solidFill>
                <a:latin typeface="Calibri"/>
              </a:rPr>
              <a:t>PPOLag</a:t>
            </a:r>
            <a:r>
              <a:rPr sz="1400" dirty="0">
                <a:solidFill>
                  <a:srgbClr val="0F294B"/>
                </a:solidFill>
                <a:latin typeface="Calibri"/>
              </a:rPr>
              <a:t>, CPO) under the same CMDP</a:t>
            </a:r>
          </a:p>
          <a:p>
            <a:pPr algn="l">
              <a:lnSpc>
                <a:spcPct val="125000"/>
              </a:lnSpc>
              <a:spcAft>
                <a:spcPts val="400"/>
              </a:spcAft>
            </a:pPr>
            <a:r>
              <a:rPr sz="1400" b="1" dirty="0">
                <a:solidFill>
                  <a:srgbClr val="64748B"/>
                </a:solidFill>
                <a:latin typeface="Calibri"/>
              </a:rPr>
              <a:t>4.  </a:t>
            </a:r>
            <a:r>
              <a:rPr sz="1400" dirty="0">
                <a:solidFill>
                  <a:srgbClr val="0F294B"/>
                </a:solidFill>
                <a:latin typeface="Calibri"/>
              </a:rPr>
              <a:t>Report honest, reproducible numbers with statistical tests</a:t>
            </a:r>
          </a:p>
        </p:txBody>
      </p:sp>
      <p:sp>
        <p:nvSpPr>
          <p:cNvPr id="9" name="Rounded Rectangle 8"/>
          <p:cNvSpPr/>
          <p:nvPr/>
        </p:nvSpPr>
        <p:spPr>
          <a:xfrm>
            <a:off x="6245352" y="1417320"/>
            <a:ext cx="5486400" cy="457200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9672" y="1554480"/>
            <a:ext cx="4937760" cy="365760"/>
          </a:xfrm>
          <a:prstGeom prst="rect">
            <a:avLst/>
          </a:prstGeom>
          <a:noFill/>
        </p:spPr>
        <p:txBody>
          <a:bodyPr wrap="square" lIns="0" tIns="0" rIns="0" bIns="0" anchor="t">
            <a:spAutoFit/>
          </a:bodyPr>
          <a:lstStyle/>
          <a:p>
            <a:pPr algn="l"/>
            <a:r>
              <a:rPr sz="1400" b="1">
                <a:solidFill>
                  <a:srgbClr val="2563EB"/>
                </a:solidFill>
                <a:latin typeface="Calibri"/>
              </a:rPr>
              <a:t>Paper</a:t>
            </a:r>
          </a:p>
        </p:txBody>
      </p:sp>
      <p:sp>
        <p:nvSpPr>
          <p:cNvPr id="11" name="TextBox 10"/>
          <p:cNvSpPr txBox="1"/>
          <p:nvPr/>
        </p:nvSpPr>
        <p:spPr>
          <a:xfrm>
            <a:off x="6519672" y="1965960"/>
            <a:ext cx="4937760" cy="1280160"/>
          </a:xfrm>
          <a:prstGeom prst="rect">
            <a:avLst/>
          </a:prstGeom>
          <a:noFill/>
        </p:spPr>
        <p:txBody>
          <a:bodyPr wrap="square" lIns="0" tIns="0" rIns="0" bIns="0" anchor="t">
            <a:spAutoFit/>
          </a:bodyPr>
          <a:lstStyle/>
          <a:p>
            <a:pPr algn="l"/>
            <a:r>
              <a:rPr sz="1400" b="1">
                <a:solidFill>
                  <a:srgbClr val="0F294B"/>
                </a:solidFill>
                <a:latin typeface="Calibri"/>
              </a:rPr>
              <a:t>"A Modern Perspective on Safe Automated Driving for Different Traffic Dynamics using Constrained RL"</a:t>
            </a:r>
          </a:p>
        </p:txBody>
      </p:sp>
      <p:sp>
        <p:nvSpPr>
          <p:cNvPr id="12" name="TextBox 11"/>
          <p:cNvSpPr txBox="1"/>
          <p:nvPr/>
        </p:nvSpPr>
        <p:spPr>
          <a:xfrm>
            <a:off x="6519672" y="3291840"/>
            <a:ext cx="4937760" cy="365760"/>
          </a:xfrm>
          <a:prstGeom prst="rect">
            <a:avLst/>
          </a:prstGeom>
          <a:noFill/>
        </p:spPr>
        <p:txBody>
          <a:bodyPr wrap="square" lIns="0" tIns="0" rIns="0" bIns="0" anchor="t">
            <a:spAutoFit/>
          </a:bodyPr>
          <a:lstStyle/>
          <a:p>
            <a:pPr algn="l"/>
            <a:r>
              <a:rPr sz="1200" b="0">
                <a:solidFill>
                  <a:srgbClr val="64748B"/>
                </a:solidFill>
                <a:latin typeface="Calibri"/>
              </a:rPr>
              <a:t>Kamran et al., IEEE ITSC 2022</a:t>
            </a:r>
          </a:p>
        </p:txBody>
      </p:sp>
      <p:sp>
        <p:nvSpPr>
          <p:cNvPr id="13" name="TextBox 12"/>
          <p:cNvSpPr txBox="1"/>
          <p:nvPr/>
        </p:nvSpPr>
        <p:spPr>
          <a:xfrm>
            <a:off x="6519672" y="3931920"/>
            <a:ext cx="4937760" cy="365760"/>
          </a:xfrm>
          <a:prstGeom prst="rect">
            <a:avLst/>
          </a:prstGeom>
          <a:noFill/>
        </p:spPr>
        <p:txBody>
          <a:bodyPr wrap="square" lIns="0" tIns="0" rIns="0" bIns="0" anchor="t">
            <a:spAutoFit/>
          </a:bodyPr>
          <a:lstStyle/>
          <a:p>
            <a:pPr algn="l"/>
            <a:r>
              <a:rPr sz="1200" b="1">
                <a:solidFill>
                  <a:srgbClr val="2563EB"/>
                </a:solidFill>
                <a:latin typeface="Calibri"/>
              </a:rPr>
              <a:t>Their claim</a:t>
            </a:r>
          </a:p>
        </p:txBody>
      </p:sp>
      <p:sp>
        <p:nvSpPr>
          <p:cNvPr id="14" name="TextBox 13"/>
          <p:cNvSpPr txBox="1"/>
          <p:nvPr/>
        </p:nvSpPr>
        <p:spPr>
          <a:xfrm>
            <a:off x="6519672" y="4251960"/>
            <a:ext cx="4937760" cy="1371600"/>
          </a:xfrm>
          <a:prstGeom prst="rect">
            <a:avLst/>
          </a:prstGeom>
          <a:noFill/>
        </p:spPr>
        <p:txBody>
          <a:bodyPr wrap="square" lIns="0" tIns="0" rIns="0" bIns="0" anchor="t">
            <a:spAutoFit/>
          </a:bodyPr>
          <a:lstStyle/>
          <a:p>
            <a:pPr algn="l"/>
            <a:r>
              <a:rPr sz="1300" b="0">
                <a:solidFill>
                  <a:srgbClr val="0F294B"/>
                </a:solidFill>
                <a:latin typeface="Calibri"/>
              </a:rPr>
              <a:t>Replace reward-engineered safety penalties with a hard cost constraint (CMDP).  Lagrangian PPO then auto-tunes the safety/utility trade-off.</a:t>
            </a:r>
          </a:p>
        </p:txBody>
      </p:sp>
      <p:sp>
        <p:nvSpPr>
          <p:cNvPr id="15" name="TextBox 14"/>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What we actually built</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3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500" b="0">
                <a:solidFill>
                  <a:srgbClr val="64748B"/>
                </a:solidFill>
                <a:latin typeface="Calibri"/>
              </a:rPr>
              <a:t>Two paper-code bug fixes, one design insight, one full benchmark suite.</a:t>
            </a:r>
          </a:p>
        </p:txBody>
      </p:sp>
      <p:sp>
        <p:nvSpPr>
          <p:cNvPr id="6" name="Rounded Rectangle 5"/>
          <p:cNvSpPr/>
          <p:nvPr/>
        </p:nvSpPr>
        <p:spPr>
          <a:xfrm>
            <a:off x="457200" y="1417320"/>
            <a:ext cx="5486400" cy="265176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417320"/>
            <a:ext cx="109728" cy="2651760"/>
          </a:xfrm>
          <a:prstGeom prst="round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54480"/>
            <a:ext cx="5120640" cy="365760"/>
          </a:xfrm>
          <a:prstGeom prst="rect">
            <a:avLst/>
          </a:prstGeom>
          <a:noFill/>
        </p:spPr>
        <p:txBody>
          <a:bodyPr wrap="square" lIns="0" tIns="0" rIns="0" bIns="0" anchor="t">
            <a:spAutoFit/>
          </a:bodyPr>
          <a:lstStyle/>
          <a:p>
            <a:pPr algn="l"/>
            <a:r>
              <a:rPr sz="1400" b="1">
                <a:solidFill>
                  <a:srgbClr val="DC2626"/>
                </a:solidFill>
                <a:latin typeface="Calibri"/>
              </a:rPr>
              <a:t>Bug fix #1:  CostWrapper</a:t>
            </a:r>
          </a:p>
        </p:txBody>
      </p:sp>
      <p:sp>
        <p:nvSpPr>
          <p:cNvPr id="9" name="TextBox 8"/>
          <p:cNvSpPr txBox="1"/>
          <p:nvPr/>
        </p:nvSpPr>
        <p:spPr>
          <a:xfrm>
            <a:off x="731520" y="2011680"/>
            <a:ext cx="5029200" cy="1874520"/>
          </a:xfrm>
          <a:prstGeom prst="rect">
            <a:avLst/>
          </a:prstGeom>
          <a:noFill/>
        </p:spPr>
        <p:txBody>
          <a:bodyPr wrap="square" lIns="0" tIns="0" rIns="0" bIns="0" anchor="t">
            <a:spAutoFit/>
          </a:bodyPr>
          <a:lstStyle/>
          <a:p>
            <a:pPr algn="l"/>
            <a:r>
              <a:rPr sz="1200" b="0">
                <a:solidFill>
                  <a:srgbClr val="0F294B"/>
                </a:solidFill>
                <a:latin typeface="Calibri"/>
              </a:rPr>
              <a:t>The paper's open-source code reads info['cost'], but highway-env emits info['crashed'].  Cost was always 0 → Lagrangian was never triggered.
We added a Gym wrapper that rewrites crashed → cost.</a:t>
            </a:r>
          </a:p>
        </p:txBody>
      </p:sp>
      <p:sp>
        <p:nvSpPr>
          <p:cNvPr id="10" name="Rounded Rectangle 9"/>
          <p:cNvSpPr/>
          <p:nvPr/>
        </p:nvSpPr>
        <p:spPr>
          <a:xfrm>
            <a:off x="6263640" y="1417320"/>
            <a:ext cx="5486400" cy="265176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63640" y="1417320"/>
            <a:ext cx="109728" cy="265176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1554480"/>
            <a:ext cx="5120640" cy="365760"/>
          </a:xfrm>
          <a:prstGeom prst="rect">
            <a:avLst/>
          </a:prstGeom>
          <a:noFill/>
        </p:spPr>
        <p:txBody>
          <a:bodyPr wrap="square" lIns="0" tIns="0" rIns="0" bIns="0" anchor="t">
            <a:spAutoFit/>
          </a:bodyPr>
          <a:lstStyle/>
          <a:p>
            <a:pPr algn="l"/>
            <a:r>
              <a:rPr sz="1400" b="1">
                <a:solidFill>
                  <a:srgbClr val="16A34A"/>
                </a:solidFill>
                <a:latin typeface="Calibri"/>
              </a:rPr>
              <a:t>Design insight:  decouple reward &amp; cost</a:t>
            </a:r>
          </a:p>
        </p:txBody>
      </p:sp>
      <p:sp>
        <p:nvSpPr>
          <p:cNvPr id="13" name="TextBox 12"/>
          <p:cNvSpPr txBox="1"/>
          <p:nvPr/>
        </p:nvSpPr>
        <p:spPr>
          <a:xfrm>
            <a:off x="6537960" y="2011680"/>
            <a:ext cx="5029200" cy="1874520"/>
          </a:xfrm>
          <a:prstGeom prst="rect">
            <a:avLst/>
          </a:prstGeom>
          <a:noFill/>
        </p:spPr>
        <p:txBody>
          <a:bodyPr wrap="square" lIns="0" tIns="0" rIns="0" bIns="0" anchor="t">
            <a:spAutoFit/>
          </a:bodyPr>
          <a:lstStyle/>
          <a:p>
            <a:pPr algn="l"/>
            <a:r>
              <a:rPr sz="1200" b="0">
                <a:solidFill>
                  <a:srgbClr val="0F294B"/>
                </a:solidFill>
                <a:latin typeface="Calibri"/>
              </a:rPr>
              <a:t>highway-env's default reward already subtracts a collision penalty.  PPO learns to avoid crashes anyway — making the constraint redundant.
We set collision_reward = 0 so safety is enforced ONLY by the cost constraint.  This is what unlocks the 40 → 9 % gap.</a:t>
            </a:r>
          </a:p>
        </p:txBody>
      </p:sp>
      <p:sp>
        <p:nvSpPr>
          <p:cNvPr id="14" name="Rounded Rectangle 13"/>
          <p:cNvSpPr/>
          <p:nvPr/>
        </p:nvSpPr>
        <p:spPr>
          <a:xfrm>
            <a:off x="457200" y="4114800"/>
            <a:ext cx="5486400" cy="265176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 y="4114800"/>
            <a:ext cx="109728" cy="265176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251960"/>
            <a:ext cx="5120640" cy="365760"/>
          </a:xfrm>
          <a:prstGeom prst="rect">
            <a:avLst/>
          </a:prstGeom>
          <a:noFill/>
        </p:spPr>
        <p:txBody>
          <a:bodyPr wrap="square" lIns="0" tIns="0" rIns="0" bIns="0" anchor="t">
            <a:spAutoFit/>
          </a:bodyPr>
          <a:lstStyle/>
          <a:p>
            <a:pPr algn="l"/>
            <a:r>
              <a:rPr sz="1400" b="1">
                <a:solidFill>
                  <a:srgbClr val="2563EB"/>
                </a:solidFill>
                <a:latin typeface="Calibri"/>
              </a:rPr>
              <a:t>Discrete-action adaptation</a:t>
            </a:r>
          </a:p>
        </p:txBody>
      </p:sp>
      <p:sp>
        <p:nvSpPr>
          <p:cNvPr id="17" name="TextBox 16"/>
          <p:cNvSpPr txBox="1"/>
          <p:nvPr/>
        </p:nvSpPr>
        <p:spPr>
          <a:xfrm>
            <a:off x="731520" y="4709160"/>
            <a:ext cx="5029200" cy="1874520"/>
          </a:xfrm>
          <a:prstGeom prst="rect">
            <a:avLst/>
          </a:prstGeom>
          <a:noFill/>
        </p:spPr>
        <p:txBody>
          <a:bodyPr wrap="square" lIns="0" tIns="0" rIns="0" bIns="0" anchor="t">
            <a:spAutoFit/>
          </a:bodyPr>
          <a:lstStyle/>
          <a:p>
            <a:pPr algn="l"/>
            <a:r>
              <a:rPr sz="1200" b="0" dirty="0">
                <a:solidFill>
                  <a:srgbClr val="0F294B"/>
                </a:solidFill>
                <a:latin typeface="Calibri"/>
              </a:rPr>
              <a:t>FSRL's </a:t>
            </a:r>
            <a:r>
              <a:rPr sz="1200" b="0" dirty="0" err="1">
                <a:solidFill>
                  <a:srgbClr val="0F294B"/>
                </a:solidFill>
                <a:latin typeface="Calibri"/>
              </a:rPr>
              <a:t>PPOLag</a:t>
            </a:r>
            <a:r>
              <a:rPr sz="1200" b="0" dirty="0">
                <a:solidFill>
                  <a:srgbClr val="0F294B"/>
                </a:solidFill>
                <a:latin typeface="Calibri"/>
              </a:rPr>
              <a:t> and CPO ship with Gaussian actors (continuous).  highway-env uses 5 discrete meta-actions.  We wrote a Categorical actor, dual-critic, and a discrete-aware </a:t>
            </a:r>
            <a:r>
              <a:rPr sz="1200" b="0" dirty="0" err="1">
                <a:solidFill>
                  <a:srgbClr val="0F294B"/>
                </a:solidFill>
                <a:latin typeface="Calibri"/>
              </a:rPr>
              <a:t>FastCollector</a:t>
            </a:r>
            <a:r>
              <a:rPr sz="1200" b="0" dirty="0">
                <a:solidFill>
                  <a:srgbClr val="0F294B"/>
                </a:solidFill>
                <a:latin typeface="Calibri"/>
              </a:rPr>
              <a:t> path.</a:t>
            </a:r>
          </a:p>
        </p:txBody>
      </p:sp>
      <p:sp>
        <p:nvSpPr>
          <p:cNvPr id="18" name="Rounded Rectangle 17"/>
          <p:cNvSpPr/>
          <p:nvPr/>
        </p:nvSpPr>
        <p:spPr>
          <a:xfrm>
            <a:off x="6263640" y="4114800"/>
            <a:ext cx="5486400" cy="265176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63640" y="4114800"/>
            <a:ext cx="109728" cy="2651760"/>
          </a:xfrm>
          <a:prstGeom prst="roundRect">
            <a:avLst/>
          </a:prstGeom>
          <a:solidFill>
            <a:srgbClr val="0F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37960" y="4251960"/>
            <a:ext cx="5120640" cy="365760"/>
          </a:xfrm>
          <a:prstGeom prst="rect">
            <a:avLst/>
          </a:prstGeom>
          <a:noFill/>
        </p:spPr>
        <p:txBody>
          <a:bodyPr wrap="square" lIns="0" tIns="0" rIns="0" bIns="0" anchor="t">
            <a:spAutoFit/>
          </a:bodyPr>
          <a:lstStyle/>
          <a:p>
            <a:pPr algn="l"/>
            <a:r>
              <a:rPr sz="1400" b="1">
                <a:solidFill>
                  <a:srgbClr val="0F294B"/>
                </a:solidFill>
                <a:latin typeface="Calibri"/>
              </a:rPr>
              <a:t>Experiment harness</a:t>
            </a:r>
          </a:p>
        </p:txBody>
      </p:sp>
      <p:sp>
        <p:nvSpPr>
          <p:cNvPr id="21" name="TextBox 20"/>
          <p:cNvSpPr txBox="1"/>
          <p:nvPr/>
        </p:nvSpPr>
        <p:spPr>
          <a:xfrm>
            <a:off x="6537960" y="4709160"/>
            <a:ext cx="5029200" cy="1874520"/>
          </a:xfrm>
          <a:prstGeom prst="rect">
            <a:avLst/>
          </a:prstGeom>
          <a:noFill/>
        </p:spPr>
        <p:txBody>
          <a:bodyPr wrap="square" lIns="0" tIns="0" rIns="0" bIns="0" anchor="t">
            <a:spAutoFit/>
          </a:bodyPr>
          <a:lstStyle/>
          <a:p>
            <a:pPr algn="l"/>
            <a:r>
              <a:rPr sz="1200" b="0">
                <a:solidFill>
                  <a:srgbClr val="0F294B"/>
                </a:solidFill>
                <a:latin typeface="Calibri"/>
              </a:rPr>
              <a:t>saferl_suite.py + run_roadmap.py drive a 4 env × 3 algo × 2 seed sweep with multi-seed CIs and Welch t-tests.
≈ 1,500 LoC · 40 runs · 11 iteration cycles.</a:t>
            </a:r>
          </a:p>
        </p:txBody>
      </p:sp>
      <p:sp>
        <p:nvSpPr>
          <p:cNvPr id="22" name="TextBox 21"/>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Why constrained RL — and why d = 0.1</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4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500" b="0">
                <a:solidFill>
                  <a:srgbClr val="64748B"/>
                </a:solidFill>
                <a:latin typeface="Calibri"/>
              </a:rPr>
              <a:t>The paper's framing, with the concrete hyperparameter we used.</a:t>
            </a:r>
          </a:p>
        </p:txBody>
      </p:sp>
      <p:sp>
        <p:nvSpPr>
          <p:cNvPr id="6" name="Rounded Rectangle 5"/>
          <p:cNvSpPr/>
          <p:nvPr/>
        </p:nvSpPr>
        <p:spPr>
          <a:xfrm>
            <a:off x="457200" y="1417320"/>
            <a:ext cx="5486400" cy="402336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554480"/>
            <a:ext cx="4937760" cy="365760"/>
          </a:xfrm>
          <a:prstGeom prst="rect">
            <a:avLst/>
          </a:prstGeom>
          <a:noFill/>
        </p:spPr>
        <p:txBody>
          <a:bodyPr wrap="square" lIns="0" tIns="0" rIns="0" bIns="0" anchor="t">
            <a:spAutoFit/>
          </a:bodyPr>
          <a:lstStyle/>
          <a:p>
            <a:pPr algn="l"/>
            <a:r>
              <a:rPr sz="1400" b="1">
                <a:solidFill>
                  <a:srgbClr val="DC2626"/>
                </a:solidFill>
                <a:latin typeface="Calibri"/>
              </a:rPr>
              <a:t>Reward shaping  (the old way)</a:t>
            </a:r>
          </a:p>
        </p:txBody>
      </p:sp>
      <p:sp>
        <p:nvSpPr>
          <p:cNvPr id="8" name="TextBox 7"/>
          <p:cNvSpPr txBox="1"/>
          <p:nvPr/>
        </p:nvSpPr>
        <p:spPr>
          <a:xfrm>
            <a:off x="731520" y="2057400"/>
            <a:ext cx="4937760" cy="548640"/>
          </a:xfrm>
          <a:prstGeom prst="rect">
            <a:avLst/>
          </a:prstGeom>
          <a:noFill/>
        </p:spPr>
        <p:txBody>
          <a:bodyPr wrap="square" lIns="0" tIns="0" rIns="0" bIns="0" anchor="t">
            <a:spAutoFit/>
          </a:bodyPr>
          <a:lstStyle/>
          <a:p>
            <a:pPr algn="l"/>
            <a:r>
              <a:rPr sz="1400" b="1">
                <a:solidFill>
                  <a:srgbClr val="0F294B"/>
                </a:solidFill>
                <a:latin typeface="Consolas"/>
              </a:rPr>
              <a:t>rₜ  =  utility(sₜ, aₜ)  −  λ · risk(sₜ, aₜ)</a:t>
            </a:r>
          </a:p>
        </p:txBody>
      </p:sp>
      <p:sp>
        <p:nvSpPr>
          <p:cNvPr id="9" name="TextBox 8"/>
          <p:cNvSpPr txBox="1"/>
          <p:nvPr/>
        </p:nvSpPr>
        <p:spPr>
          <a:xfrm>
            <a:off x="731520" y="2880360"/>
            <a:ext cx="4937760" cy="2377440"/>
          </a:xfrm>
          <a:prstGeom prst="rect">
            <a:avLst/>
          </a:prstGeom>
          <a:noFill/>
        </p:spPr>
        <p:txBody>
          <a:bodyPr wrap="square" lIns="0" tIns="0" rIns="0" bIns="0">
            <a:spAutoFit/>
          </a:bodyPr>
          <a:lstStyle/>
          <a:p>
            <a:pPr algn="l">
              <a:lnSpc>
                <a:spcPct val="130000"/>
              </a:lnSpc>
              <a:spcAft>
                <a:spcPts val="400"/>
              </a:spcAft>
            </a:pPr>
            <a:r>
              <a:rPr sz="1300" b="1">
                <a:solidFill>
                  <a:srgbClr val="64748B"/>
                </a:solidFill>
                <a:latin typeface="Calibri"/>
              </a:rPr>
              <a:t>•  </a:t>
            </a:r>
            <a:r>
              <a:rPr sz="1300">
                <a:solidFill>
                  <a:srgbClr val="0F294B"/>
                </a:solidFill>
                <a:latin typeface="Calibri"/>
              </a:rPr>
              <a:t>λ is a hand-tuned scalar</a:t>
            </a:r>
          </a:p>
          <a:p>
            <a:pPr algn="l">
              <a:lnSpc>
                <a:spcPct val="130000"/>
              </a:lnSpc>
              <a:spcAft>
                <a:spcPts val="400"/>
              </a:spcAft>
            </a:pPr>
            <a:r>
              <a:rPr sz="1300" b="1">
                <a:solidFill>
                  <a:srgbClr val="64748B"/>
                </a:solidFill>
                <a:latin typeface="Calibri"/>
              </a:rPr>
              <a:t>•  </a:t>
            </a:r>
            <a:r>
              <a:rPr sz="1300">
                <a:solidFill>
                  <a:srgbClr val="0F294B"/>
                </a:solidFill>
                <a:latin typeface="Calibri"/>
              </a:rPr>
              <a:t>Optimal λ depends on traffic density, driver behavior…</a:t>
            </a:r>
          </a:p>
          <a:p>
            <a:pPr algn="l">
              <a:lnSpc>
                <a:spcPct val="130000"/>
              </a:lnSpc>
              <a:spcAft>
                <a:spcPts val="400"/>
              </a:spcAft>
            </a:pPr>
            <a:r>
              <a:rPr sz="1300" b="1">
                <a:solidFill>
                  <a:srgbClr val="64748B"/>
                </a:solidFill>
                <a:latin typeface="Calibri"/>
              </a:rPr>
              <a:t>•  </a:t>
            </a:r>
            <a:r>
              <a:rPr sz="1300">
                <a:solidFill>
                  <a:srgbClr val="0F294B"/>
                </a:solidFill>
                <a:latin typeface="Calibri"/>
              </a:rPr>
              <a:t>No explicit safety guarantee — just hope λ is big enough</a:t>
            </a:r>
          </a:p>
        </p:txBody>
      </p:sp>
      <p:sp>
        <p:nvSpPr>
          <p:cNvPr id="10" name="Rounded Rectangle 9"/>
          <p:cNvSpPr/>
          <p:nvPr/>
        </p:nvSpPr>
        <p:spPr>
          <a:xfrm>
            <a:off x="6245352" y="1417320"/>
            <a:ext cx="5486400" cy="402336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9672" y="1554480"/>
            <a:ext cx="4937760" cy="365760"/>
          </a:xfrm>
          <a:prstGeom prst="rect">
            <a:avLst/>
          </a:prstGeom>
          <a:noFill/>
        </p:spPr>
        <p:txBody>
          <a:bodyPr wrap="square" lIns="0" tIns="0" rIns="0" bIns="0" anchor="t">
            <a:spAutoFit/>
          </a:bodyPr>
          <a:lstStyle/>
          <a:p>
            <a:pPr algn="l"/>
            <a:r>
              <a:rPr sz="1400" b="1">
                <a:solidFill>
                  <a:srgbClr val="16A34A"/>
                </a:solidFill>
                <a:latin typeface="Calibri"/>
              </a:rPr>
              <a:t>CMDP  (the paper's proposal)</a:t>
            </a:r>
          </a:p>
        </p:txBody>
      </p:sp>
      <p:sp>
        <p:nvSpPr>
          <p:cNvPr id="12" name="TextBox 11"/>
          <p:cNvSpPr txBox="1"/>
          <p:nvPr/>
        </p:nvSpPr>
        <p:spPr>
          <a:xfrm>
            <a:off x="6519672" y="2057400"/>
            <a:ext cx="4937760" cy="502920"/>
          </a:xfrm>
          <a:prstGeom prst="rect">
            <a:avLst/>
          </a:prstGeom>
          <a:noFill/>
        </p:spPr>
        <p:txBody>
          <a:bodyPr wrap="square" lIns="0" tIns="0" rIns="0" bIns="0" anchor="t">
            <a:spAutoFit/>
          </a:bodyPr>
          <a:lstStyle/>
          <a:p>
            <a:pPr algn="l"/>
            <a:r>
              <a:rPr sz="1400" b="1">
                <a:solidFill>
                  <a:srgbClr val="0F294B"/>
                </a:solidFill>
                <a:latin typeface="Consolas"/>
              </a:rPr>
              <a:t>max  E[Σ rₜ]    s.t.    E[Σ cₜ]  ≤  d</a:t>
            </a:r>
          </a:p>
        </p:txBody>
      </p:sp>
      <p:sp>
        <p:nvSpPr>
          <p:cNvPr id="13" name="TextBox 12"/>
          <p:cNvSpPr txBox="1"/>
          <p:nvPr/>
        </p:nvSpPr>
        <p:spPr>
          <a:xfrm>
            <a:off x="6519672" y="2514600"/>
            <a:ext cx="4937760" cy="411480"/>
          </a:xfrm>
          <a:prstGeom prst="rect">
            <a:avLst/>
          </a:prstGeom>
          <a:noFill/>
        </p:spPr>
        <p:txBody>
          <a:bodyPr wrap="square" lIns="0" tIns="0" rIns="0" bIns="0" anchor="t">
            <a:spAutoFit/>
          </a:bodyPr>
          <a:lstStyle/>
          <a:p>
            <a:pPr algn="l"/>
            <a:r>
              <a:rPr sz="1300" b="0">
                <a:solidFill>
                  <a:srgbClr val="0F294B"/>
                </a:solidFill>
                <a:latin typeface="Consolas"/>
              </a:rPr>
              <a:t>cost cₜ  =  1  if crashed else 0       d  =  0.1</a:t>
            </a:r>
          </a:p>
        </p:txBody>
      </p:sp>
      <p:sp>
        <p:nvSpPr>
          <p:cNvPr id="14" name="TextBox 13"/>
          <p:cNvSpPr txBox="1"/>
          <p:nvPr/>
        </p:nvSpPr>
        <p:spPr>
          <a:xfrm>
            <a:off x="6519672" y="3108960"/>
            <a:ext cx="4937760" cy="2194560"/>
          </a:xfrm>
          <a:prstGeom prst="rect">
            <a:avLst/>
          </a:prstGeom>
          <a:noFill/>
        </p:spPr>
        <p:txBody>
          <a:bodyPr wrap="square" lIns="0" tIns="0" rIns="0" bIns="0">
            <a:spAutoFit/>
          </a:bodyPr>
          <a:lstStyle/>
          <a:p>
            <a:pPr algn="l">
              <a:lnSpc>
                <a:spcPct val="130000"/>
              </a:lnSpc>
              <a:spcAft>
                <a:spcPts val="400"/>
              </a:spcAft>
            </a:pPr>
            <a:r>
              <a:rPr sz="1300" b="1">
                <a:solidFill>
                  <a:srgbClr val="64748B"/>
                </a:solidFill>
                <a:latin typeface="Calibri"/>
              </a:rPr>
              <a:t>•  </a:t>
            </a:r>
            <a:r>
              <a:rPr sz="1300">
                <a:solidFill>
                  <a:srgbClr val="0F294B"/>
                </a:solidFill>
                <a:latin typeface="Calibri"/>
              </a:rPr>
              <a:t>Reward and cost are separate channels</a:t>
            </a:r>
          </a:p>
          <a:p>
            <a:pPr algn="l">
              <a:lnSpc>
                <a:spcPct val="130000"/>
              </a:lnSpc>
              <a:spcAft>
                <a:spcPts val="400"/>
              </a:spcAft>
            </a:pPr>
            <a:r>
              <a:rPr sz="1300" b="1">
                <a:solidFill>
                  <a:srgbClr val="64748B"/>
                </a:solidFill>
                <a:latin typeface="Calibri"/>
              </a:rPr>
              <a:t>•  </a:t>
            </a:r>
            <a:r>
              <a:rPr sz="1300">
                <a:solidFill>
                  <a:srgbClr val="0F294B"/>
                </a:solidFill>
                <a:latin typeface="Calibri"/>
              </a:rPr>
              <a:t>PPO-Lagrangian uses a PID controller on λ — λ adapts online</a:t>
            </a:r>
          </a:p>
          <a:p>
            <a:pPr algn="l">
              <a:lnSpc>
                <a:spcPct val="130000"/>
              </a:lnSpc>
              <a:spcAft>
                <a:spcPts val="400"/>
              </a:spcAft>
            </a:pPr>
            <a:r>
              <a:rPr sz="1300" b="1">
                <a:solidFill>
                  <a:srgbClr val="64748B"/>
                </a:solidFill>
                <a:latin typeface="Calibri"/>
              </a:rPr>
              <a:t>•  </a:t>
            </a:r>
            <a:r>
              <a:rPr sz="1300">
                <a:solidFill>
                  <a:srgbClr val="0F294B"/>
                </a:solidFill>
                <a:latin typeface="Calibri"/>
              </a:rPr>
              <a:t>"≤ 10 % crash rate" is interpretable;  λ is not</a:t>
            </a:r>
          </a:p>
        </p:txBody>
      </p:sp>
      <p:sp>
        <p:nvSpPr>
          <p:cNvPr id="15" name="Rounded Rectangle 14"/>
          <p:cNvSpPr/>
          <p:nvPr/>
        </p:nvSpPr>
        <p:spPr>
          <a:xfrm>
            <a:off x="457200" y="5669280"/>
            <a:ext cx="11274552" cy="640080"/>
          </a:xfrm>
          <a:prstGeom prst="roundRect">
            <a:avLst/>
          </a:prstGeom>
          <a:solidFill>
            <a:srgbClr val="0F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5779008"/>
            <a:ext cx="10698480" cy="457200"/>
          </a:xfrm>
          <a:prstGeom prst="rect">
            <a:avLst/>
          </a:prstGeom>
          <a:noFill/>
        </p:spPr>
        <p:txBody>
          <a:bodyPr wrap="square" lIns="0" tIns="0" rIns="0" bIns="0" anchor="t">
            <a:spAutoFit/>
          </a:bodyPr>
          <a:lstStyle/>
          <a:p>
            <a:pPr algn="ctr"/>
            <a:r>
              <a:rPr sz="1200" b="0">
                <a:solidFill>
                  <a:srgbClr val="FFFFFF"/>
                </a:solidFill>
                <a:latin typeface="Calibri"/>
              </a:rPr>
              <a:t>Cost limit  d = 0.1  ·  PID gains (10, 1, 1)  ·  policy LR 3e-4 · value LR 1e-3 · 20 epochs × 4,000 steps · 100 eval episodes</a:t>
            </a:r>
          </a:p>
        </p:txBody>
      </p:sp>
      <p:sp>
        <p:nvSpPr>
          <p:cNvPr id="17" name="TextBox 16"/>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Why our  collision_reward = 0  matters</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5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500" b="0">
                <a:solidFill>
                  <a:srgbClr val="64748B"/>
                </a:solidFill>
                <a:latin typeface="Calibri"/>
              </a:rPr>
              <a:t>Without decoupling, PPOLag has nothing to learn.  This is the most important plot in this deck.</a:t>
            </a:r>
          </a:p>
        </p:txBody>
      </p:sp>
      <p:pic>
        <p:nvPicPr>
          <p:cNvPr id="6" name="Picture 5" descr="ablation_decoupled.png"/>
          <p:cNvPicPr>
            <a:picLocks noChangeAspect="1"/>
          </p:cNvPicPr>
          <p:nvPr/>
        </p:nvPicPr>
        <p:blipFill>
          <a:blip r:embed="rId3"/>
          <a:stretch>
            <a:fillRect/>
          </a:stretch>
        </p:blipFill>
        <p:spPr>
          <a:xfrm>
            <a:off x="640080" y="1417320"/>
            <a:ext cx="6766560" cy="3472650"/>
          </a:xfrm>
          <a:prstGeom prst="rect">
            <a:avLst/>
          </a:prstGeom>
        </p:spPr>
      </p:pic>
      <p:sp>
        <p:nvSpPr>
          <p:cNvPr id="7" name="Rounded Rectangle 6"/>
          <p:cNvSpPr/>
          <p:nvPr/>
        </p:nvSpPr>
        <p:spPr>
          <a:xfrm>
            <a:off x="7726679" y="1417320"/>
            <a:ext cx="4023360" cy="457200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79" y="1554480"/>
            <a:ext cx="3657600" cy="365760"/>
          </a:xfrm>
          <a:prstGeom prst="rect">
            <a:avLst/>
          </a:prstGeom>
          <a:noFill/>
        </p:spPr>
        <p:txBody>
          <a:bodyPr wrap="square" lIns="0" tIns="0" rIns="0" bIns="0" anchor="t">
            <a:spAutoFit/>
          </a:bodyPr>
          <a:lstStyle/>
          <a:p>
            <a:pPr algn="l"/>
            <a:r>
              <a:rPr sz="1300" b="1">
                <a:solidFill>
                  <a:srgbClr val="2563EB"/>
                </a:solidFill>
                <a:latin typeface="Calibri"/>
              </a:rPr>
              <a:t>Reading this plot</a:t>
            </a:r>
          </a:p>
        </p:txBody>
      </p:sp>
      <p:sp>
        <p:nvSpPr>
          <p:cNvPr id="9" name="TextBox 8"/>
          <p:cNvSpPr txBox="1"/>
          <p:nvPr/>
        </p:nvSpPr>
        <p:spPr>
          <a:xfrm>
            <a:off x="7955279" y="1965960"/>
            <a:ext cx="3657600" cy="320040"/>
          </a:xfrm>
          <a:prstGeom prst="rect">
            <a:avLst/>
          </a:prstGeom>
          <a:noFill/>
        </p:spPr>
        <p:txBody>
          <a:bodyPr wrap="square" lIns="0" tIns="0" rIns="0" bIns="0" anchor="t">
            <a:spAutoFit/>
          </a:bodyPr>
          <a:lstStyle/>
          <a:p>
            <a:pPr algn="l"/>
            <a:r>
              <a:rPr sz="1200" b="1">
                <a:solidFill>
                  <a:srgbClr val="0F294B"/>
                </a:solidFill>
                <a:latin typeface="Calibri"/>
              </a:rPr>
              <a:t>Left:</a:t>
            </a:r>
          </a:p>
        </p:txBody>
      </p:sp>
      <p:sp>
        <p:nvSpPr>
          <p:cNvPr id="10" name="TextBox 9"/>
          <p:cNvSpPr txBox="1"/>
          <p:nvPr/>
        </p:nvSpPr>
        <p:spPr>
          <a:xfrm>
            <a:off x="7955279" y="2258568"/>
            <a:ext cx="3657600" cy="1280160"/>
          </a:xfrm>
          <a:prstGeom prst="rect">
            <a:avLst/>
          </a:prstGeom>
          <a:noFill/>
        </p:spPr>
        <p:txBody>
          <a:bodyPr wrap="square" lIns="0" tIns="0" rIns="0" bIns="0" anchor="t">
            <a:spAutoFit/>
          </a:bodyPr>
          <a:lstStyle/>
          <a:p>
            <a:pPr algn="l"/>
            <a:r>
              <a:rPr sz="1100" b="0">
                <a:solidFill>
                  <a:srgbClr val="0F294B"/>
                </a:solidFill>
                <a:latin typeface="Calibri"/>
              </a:rPr>
              <a:t>When reward already penalizes crashes, PPO crashes ~5 % anyway. PPOLag matches it.  No measurable gain from the constraint.</a:t>
            </a:r>
          </a:p>
        </p:txBody>
      </p:sp>
      <p:sp>
        <p:nvSpPr>
          <p:cNvPr id="11" name="TextBox 10"/>
          <p:cNvSpPr txBox="1"/>
          <p:nvPr/>
        </p:nvSpPr>
        <p:spPr>
          <a:xfrm>
            <a:off x="7955279" y="3264408"/>
            <a:ext cx="3657600" cy="320040"/>
          </a:xfrm>
          <a:prstGeom prst="rect">
            <a:avLst/>
          </a:prstGeom>
          <a:noFill/>
        </p:spPr>
        <p:txBody>
          <a:bodyPr wrap="square" lIns="0" tIns="0" rIns="0" bIns="0" anchor="t">
            <a:spAutoFit/>
          </a:bodyPr>
          <a:lstStyle/>
          <a:p>
            <a:pPr algn="l"/>
            <a:r>
              <a:rPr sz="1200" b="1">
                <a:solidFill>
                  <a:srgbClr val="0F294B"/>
                </a:solidFill>
                <a:latin typeface="Calibri"/>
              </a:rPr>
              <a:t>Right:</a:t>
            </a:r>
          </a:p>
        </p:txBody>
      </p:sp>
      <p:sp>
        <p:nvSpPr>
          <p:cNvPr id="12" name="TextBox 11"/>
          <p:cNvSpPr txBox="1"/>
          <p:nvPr/>
        </p:nvSpPr>
        <p:spPr>
          <a:xfrm>
            <a:off x="7955279" y="3557016"/>
            <a:ext cx="3657600" cy="1280160"/>
          </a:xfrm>
          <a:prstGeom prst="rect">
            <a:avLst/>
          </a:prstGeom>
          <a:noFill/>
        </p:spPr>
        <p:txBody>
          <a:bodyPr wrap="square" lIns="0" tIns="0" rIns="0" bIns="0" anchor="t">
            <a:spAutoFit/>
          </a:bodyPr>
          <a:lstStyle/>
          <a:p>
            <a:pPr algn="l"/>
            <a:r>
              <a:rPr sz="1100" b="0">
                <a:solidFill>
                  <a:srgbClr val="0F294B"/>
                </a:solidFill>
                <a:latin typeface="Calibri"/>
              </a:rPr>
              <a:t>When we set collision_reward = 0, PPO has no reason to avoid crashes → 40 %.  PPOLag, forced to satisfy d = 0.1, lands at 9 %.</a:t>
            </a:r>
          </a:p>
        </p:txBody>
      </p:sp>
      <p:sp>
        <p:nvSpPr>
          <p:cNvPr id="13" name="TextBox 12"/>
          <p:cNvSpPr txBox="1"/>
          <p:nvPr/>
        </p:nvSpPr>
        <p:spPr>
          <a:xfrm>
            <a:off x="7955279" y="4562856"/>
            <a:ext cx="3657600" cy="320040"/>
          </a:xfrm>
          <a:prstGeom prst="rect">
            <a:avLst/>
          </a:prstGeom>
          <a:noFill/>
        </p:spPr>
        <p:txBody>
          <a:bodyPr wrap="square" lIns="0" tIns="0" rIns="0" bIns="0" anchor="t">
            <a:spAutoFit/>
          </a:bodyPr>
          <a:lstStyle/>
          <a:p>
            <a:pPr algn="l"/>
            <a:r>
              <a:rPr sz="1200" b="1">
                <a:solidFill>
                  <a:srgbClr val="0F294B"/>
                </a:solidFill>
                <a:latin typeface="Calibri"/>
              </a:rPr>
              <a:t>Take-away:</a:t>
            </a:r>
          </a:p>
        </p:txBody>
      </p:sp>
      <p:sp>
        <p:nvSpPr>
          <p:cNvPr id="14" name="TextBox 13"/>
          <p:cNvSpPr txBox="1"/>
          <p:nvPr/>
        </p:nvSpPr>
        <p:spPr>
          <a:xfrm>
            <a:off x="7955279" y="4855464"/>
            <a:ext cx="3657600" cy="1280160"/>
          </a:xfrm>
          <a:prstGeom prst="rect">
            <a:avLst/>
          </a:prstGeom>
          <a:noFill/>
        </p:spPr>
        <p:txBody>
          <a:bodyPr wrap="square" lIns="0" tIns="0" rIns="0" bIns="0" anchor="t">
            <a:spAutoFit/>
          </a:bodyPr>
          <a:lstStyle/>
          <a:p>
            <a:pPr algn="l"/>
            <a:r>
              <a:rPr sz="1100" b="0">
                <a:solidFill>
                  <a:srgbClr val="0F294B"/>
                </a:solidFill>
                <a:latin typeface="Calibri"/>
              </a:rPr>
              <a:t>The CMDP framework only shows its value if the reward signal is reward-only.  The original paper's open code left this implicit; we made it explicit.</a:t>
            </a:r>
          </a:p>
        </p:txBody>
      </p:sp>
      <p:sp>
        <p:nvSpPr>
          <p:cNvPr id="15" name="TextBox 14"/>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Replication on merge-v0:  40 % → 9 %</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6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400" b="0">
                <a:solidFill>
                  <a:srgbClr val="64748B"/>
                </a:solidFill>
                <a:latin typeface="Calibri"/>
              </a:rPr>
              <a:t>20 epochs × 4,000 steps · 100 eval episodes · seed 42 · cost limit d = 0.1.</a:t>
            </a:r>
          </a:p>
        </p:txBody>
      </p:sp>
      <p:pic>
        <p:nvPicPr>
          <p:cNvPr id="6" name="Picture 5" descr="ppo_vs_ppolag.png"/>
          <p:cNvPicPr>
            <a:picLocks noChangeAspect="1"/>
          </p:cNvPicPr>
          <p:nvPr/>
        </p:nvPicPr>
        <p:blipFill>
          <a:blip r:embed="rId3"/>
          <a:stretch>
            <a:fillRect/>
          </a:stretch>
        </p:blipFill>
        <p:spPr>
          <a:xfrm>
            <a:off x="457200" y="1463040"/>
            <a:ext cx="6400800" cy="3196087"/>
          </a:xfrm>
          <a:prstGeom prst="rect">
            <a:avLst/>
          </a:prstGeom>
        </p:spPr>
      </p:pic>
      <p:sp>
        <p:nvSpPr>
          <p:cNvPr id="7" name="Rounded Rectangle 6"/>
          <p:cNvSpPr/>
          <p:nvPr/>
        </p:nvSpPr>
        <p:spPr>
          <a:xfrm>
            <a:off x="7269480" y="1417320"/>
            <a:ext cx="4480560" cy="457200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79" y="1554480"/>
            <a:ext cx="4114800" cy="365760"/>
          </a:xfrm>
          <a:prstGeom prst="rect">
            <a:avLst/>
          </a:prstGeom>
          <a:noFill/>
        </p:spPr>
        <p:txBody>
          <a:bodyPr wrap="square" lIns="0" tIns="0" rIns="0" bIns="0" anchor="t">
            <a:spAutoFit/>
          </a:bodyPr>
          <a:lstStyle/>
          <a:p>
            <a:pPr algn="l"/>
            <a:r>
              <a:rPr sz="1400" b="1">
                <a:solidFill>
                  <a:srgbClr val="2563EB"/>
                </a:solidFill>
                <a:latin typeface="Calibri"/>
              </a:rPr>
              <a:t>Numbers</a:t>
            </a:r>
          </a:p>
        </p:txBody>
      </p:sp>
      <p:sp>
        <p:nvSpPr>
          <p:cNvPr id="9" name="Rounded Rectangle 8"/>
          <p:cNvSpPr/>
          <p:nvPr/>
        </p:nvSpPr>
        <p:spPr>
          <a:xfrm>
            <a:off x="7498079" y="2011680"/>
            <a:ext cx="4114800" cy="320040"/>
          </a:xfrm>
          <a:prstGeom prst="roundRect">
            <a:avLst/>
          </a:prstGeom>
          <a:solidFill>
            <a:srgbClr val="0F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79" y="2048256"/>
            <a:ext cx="1033271" cy="292608"/>
          </a:xfrm>
          <a:prstGeom prst="rect">
            <a:avLst/>
          </a:prstGeom>
          <a:noFill/>
        </p:spPr>
        <p:txBody>
          <a:bodyPr wrap="square" lIns="0" tIns="0" rIns="0" bIns="0" anchor="t">
            <a:spAutoFit/>
          </a:bodyPr>
          <a:lstStyle/>
          <a:p>
            <a:pPr algn="l"/>
            <a:r>
              <a:rPr sz="1200" b="1">
                <a:solidFill>
                  <a:srgbClr val="FFFFFF"/>
                </a:solidFill>
                <a:latin typeface="Calibri"/>
              </a:rPr>
              <a:t>Metric</a:t>
            </a:r>
          </a:p>
        </p:txBody>
      </p:sp>
      <p:sp>
        <p:nvSpPr>
          <p:cNvPr id="11" name="TextBox 10"/>
          <p:cNvSpPr txBox="1"/>
          <p:nvPr/>
        </p:nvSpPr>
        <p:spPr>
          <a:xfrm>
            <a:off x="8531351" y="2048256"/>
            <a:ext cx="1033271" cy="292608"/>
          </a:xfrm>
          <a:prstGeom prst="rect">
            <a:avLst/>
          </a:prstGeom>
          <a:noFill/>
        </p:spPr>
        <p:txBody>
          <a:bodyPr wrap="square" lIns="0" tIns="0" rIns="0" bIns="0" anchor="t">
            <a:spAutoFit/>
          </a:bodyPr>
          <a:lstStyle/>
          <a:p>
            <a:pPr algn="ctr"/>
            <a:r>
              <a:rPr sz="1200" b="1">
                <a:solidFill>
                  <a:srgbClr val="FFFFFF"/>
                </a:solidFill>
                <a:latin typeface="Calibri"/>
              </a:rPr>
              <a:t>PPO</a:t>
            </a:r>
          </a:p>
        </p:txBody>
      </p:sp>
      <p:sp>
        <p:nvSpPr>
          <p:cNvPr id="12" name="TextBox 11"/>
          <p:cNvSpPr txBox="1"/>
          <p:nvPr/>
        </p:nvSpPr>
        <p:spPr>
          <a:xfrm>
            <a:off x="9564624" y="2048256"/>
            <a:ext cx="1033271" cy="292608"/>
          </a:xfrm>
          <a:prstGeom prst="rect">
            <a:avLst/>
          </a:prstGeom>
          <a:noFill/>
        </p:spPr>
        <p:txBody>
          <a:bodyPr wrap="square" lIns="0" tIns="0" rIns="0" bIns="0" anchor="t">
            <a:spAutoFit/>
          </a:bodyPr>
          <a:lstStyle/>
          <a:p>
            <a:pPr algn="ctr"/>
            <a:r>
              <a:rPr sz="1200" b="1">
                <a:solidFill>
                  <a:srgbClr val="FFFFFF"/>
                </a:solidFill>
                <a:latin typeface="Calibri"/>
              </a:rPr>
              <a:t>PPOLag</a:t>
            </a:r>
          </a:p>
        </p:txBody>
      </p:sp>
      <p:sp>
        <p:nvSpPr>
          <p:cNvPr id="13" name="TextBox 12"/>
          <p:cNvSpPr txBox="1"/>
          <p:nvPr/>
        </p:nvSpPr>
        <p:spPr>
          <a:xfrm>
            <a:off x="10597896" y="2048256"/>
            <a:ext cx="1033271" cy="292608"/>
          </a:xfrm>
          <a:prstGeom prst="rect">
            <a:avLst/>
          </a:prstGeom>
          <a:noFill/>
        </p:spPr>
        <p:txBody>
          <a:bodyPr wrap="square" lIns="0" tIns="0" rIns="0" bIns="0" anchor="t">
            <a:spAutoFit/>
          </a:bodyPr>
          <a:lstStyle/>
          <a:p>
            <a:pPr algn="ctr"/>
            <a:r>
              <a:rPr sz="1200" b="1">
                <a:solidFill>
                  <a:srgbClr val="FFFFFF"/>
                </a:solidFill>
                <a:latin typeface="Calibri"/>
              </a:rPr>
              <a:t>Δ</a:t>
            </a:r>
          </a:p>
        </p:txBody>
      </p:sp>
      <p:sp>
        <p:nvSpPr>
          <p:cNvPr id="14" name="TextBox 13"/>
          <p:cNvSpPr txBox="1"/>
          <p:nvPr/>
        </p:nvSpPr>
        <p:spPr>
          <a:xfrm>
            <a:off x="7498079" y="2414016"/>
            <a:ext cx="1033271" cy="292608"/>
          </a:xfrm>
          <a:prstGeom prst="rect">
            <a:avLst/>
          </a:prstGeom>
          <a:noFill/>
        </p:spPr>
        <p:txBody>
          <a:bodyPr wrap="square" lIns="0" tIns="0" rIns="0" bIns="0" anchor="t">
            <a:spAutoFit/>
          </a:bodyPr>
          <a:lstStyle/>
          <a:p>
            <a:pPr algn="l"/>
            <a:r>
              <a:rPr sz="1200" b="1">
                <a:solidFill>
                  <a:srgbClr val="0F294B"/>
                </a:solidFill>
                <a:latin typeface="Calibri"/>
              </a:rPr>
              <a:t>Collision</a:t>
            </a:r>
          </a:p>
        </p:txBody>
      </p:sp>
      <p:sp>
        <p:nvSpPr>
          <p:cNvPr id="15" name="TextBox 14"/>
          <p:cNvSpPr txBox="1"/>
          <p:nvPr/>
        </p:nvSpPr>
        <p:spPr>
          <a:xfrm>
            <a:off x="8531351" y="2414016"/>
            <a:ext cx="1033271" cy="292608"/>
          </a:xfrm>
          <a:prstGeom prst="rect">
            <a:avLst/>
          </a:prstGeom>
          <a:noFill/>
        </p:spPr>
        <p:txBody>
          <a:bodyPr wrap="square" lIns="0" tIns="0" rIns="0" bIns="0" anchor="t">
            <a:spAutoFit/>
          </a:bodyPr>
          <a:lstStyle/>
          <a:p>
            <a:pPr algn="ctr"/>
            <a:r>
              <a:rPr sz="1200" b="0">
                <a:solidFill>
                  <a:srgbClr val="DC2626"/>
                </a:solidFill>
                <a:latin typeface="Calibri"/>
              </a:rPr>
              <a:t>40.0 %</a:t>
            </a:r>
          </a:p>
        </p:txBody>
      </p:sp>
      <p:sp>
        <p:nvSpPr>
          <p:cNvPr id="16" name="TextBox 15"/>
          <p:cNvSpPr txBox="1"/>
          <p:nvPr/>
        </p:nvSpPr>
        <p:spPr>
          <a:xfrm>
            <a:off x="9564624" y="2414016"/>
            <a:ext cx="1033271" cy="292608"/>
          </a:xfrm>
          <a:prstGeom prst="rect">
            <a:avLst/>
          </a:prstGeom>
          <a:noFill/>
        </p:spPr>
        <p:txBody>
          <a:bodyPr wrap="square" lIns="0" tIns="0" rIns="0" bIns="0" anchor="t">
            <a:spAutoFit/>
          </a:bodyPr>
          <a:lstStyle/>
          <a:p>
            <a:pPr algn="ctr"/>
            <a:r>
              <a:rPr sz="1200" b="0">
                <a:solidFill>
                  <a:srgbClr val="16A34A"/>
                </a:solidFill>
                <a:latin typeface="Calibri"/>
              </a:rPr>
              <a:t>9.0 %</a:t>
            </a:r>
          </a:p>
        </p:txBody>
      </p:sp>
      <p:sp>
        <p:nvSpPr>
          <p:cNvPr id="17" name="TextBox 16"/>
          <p:cNvSpPr txBox="1"/>
          <p:nvPr/>
        </p:nvSpPr>
        <p:spPr>
          <a:xfrm>
            <a:off x="10597896" y="2414016"/>
            <a:ext cx="1033271" cy="292608"/>
          </a:xfrm>
          <a:prstGeom prst="rect">
            <a:avLst/>
          </a:prstGeom>
          <a:noFill/>
        </p:spPr>
        <p:txBody>
          <a:bodyPr wrap="square" lIns="0" tIns="0" rIns="0" bIns="0" anchor="t">
            <a:spAutoFit/>
          </a:bodyPr>
          <a:lstStyle/>
          <a:p>
            <a:pPr algn="ctr"/>
            <a:r>
              <a:rPr sz="1200" b="0">
                <a:solidFill>
                  <a:srgbClr val="16A34A"/>
                </a:solidFill>
                <a:latin typeface="Calibri"/>
              </a:rPr>
              <a:t>−77 %</a:t>
            </a:r>
          </a:p>
        </p:txBody>
      </p:sp>
      <p:sp>
        <p:nvSpPr>
          <p:cNvPr id="18" name="TextBox 17"/>
          <p:cNvSpPr txBox="1"/>
          <p:nvPr/>
        </p:nvSpPr>
        <p:spPr>
          <a:xfrm>
            <a:off x="7498079" y="2734056"/>
            <a:ext cx="1033271" cy="292608"/>
          </a:xfrm>
          <a:prstGeom prst="rect">
            <a:avLst/>
          </a:prstGeom>
          <a:noFill/>
        </p:spPr>
        <p:txBody>
          <a:bodyPr wrap="square" lIns="0" tIns="0" rIns="0" bIns="0" anchor="t">
            <a:spAutoFit/>
          </a:bodyPr>
          <a:lstStyle/>
          <a:p>
            <a:pPr algn="l"/>
            <a:r>
              <a:rPr sz="1200" b="1">
                <a:solidFill>
                  <a:srgbClr val="0F294B"/>
                </a:solidFill>
                <a:latin typeface="Calibri"/>
              </a:rPr>
              <a:t>Reward</a:t>
            </a:r>
          </a:p>
        </p:txBody>
      </p:sp>
      <p:sp>
        <p:nvSpPr>
          <p:cNvPr id="19" name="TextBox 18"/>
          <p:cNvSpPr txBox="1"/>
          <p:nvPr/>
        </p:nvSpPr>
        <p:spPr>
          <a:xfrm>
            <a:off x="8531351" y="2734056"/>
            <a:ext cx="1033271" cy="292608"/>
          </a:xfrm>
          <a:prstGeom prst="rect">
            <a:avLst/>
          </a:prstGeom>
          <a:noFill/>
        </p:spPr>
        <p:txBody>
          <a:bodyPr wrap="square" lIns="0" tIns="0" rIns="0" bIns="0" anchor="t">
            <a:spAutoFit/>
          </a:bodyPr>
          <a:lstStyle/>
          <a:p>
            <a:pPr algn="ctr"/>
            <a:r>
              <a:rPr sz="1200" b="0">
                <a:solidFill>
                  <a:srgbClr val="DC2626"/>
                </a:solidFill>
                <a:latin typeface="Calibri"/>
              </a:rPr>
              <a:t>9.69</a:t>
            </a:r>
          </a:p>
        </p:txBody>
      </p:sp>
      <p:sp>
        <p:nvSpPr>
          <p:cNvPr id="20" name="TextBox 19"/>
          <p:cNvSpPr txBox="1"/>
          <p:nvPr/>
        </p:nvSpPr>
        <p:spPr>
          <a:xfrm>
            <a:off x="9564624" y="2734056"/>
            <a:ext cx="1033271" cy="292608"/>
          </a:xfrm>
          <a:prstGeom prst="rect">
            <a:avLst/>
          </a:prstGeom>
          <a:noFill/>
        </p:spPr>
        <p:txBody>
          <a:bodyPr wrap="square" lIns="0" tIns="0" rIns="0" bIns="0" anchor="t">
            <a:spAutoFit/>
          </a:bodyPr>
          <a:lstStyle/>
          <a:p>
            <a:pPr algn="ctr"/>
            <a:r>
              <a:rPr sz="1200" b="0">
                <a:solidFill>
                  <a:srgbClr val="16A34A"/>
                </a:solidFill>
                <a:latin typeface="Calibri"/>
              </a:rPr>
              <a:t>8.08</a:t>
            </a:r>
          </a:p>
        </p:txBody>
      </p:sp>
      <p:sp>
        <p:nvSpPr>
          <p:cNvPr id="21" name="TextBox 20"/>
          <p:cNvSpPr txBox="1"/>
          <p:nvPr/>
        </p:nvSpPr>
        <p:spPr>
          <a:xfrm>
            <a:off x="10597896" y="2734056"/>
            <a:ext cx="1033271" cy="292608"/>
          </a:xfrm>
          <a:prstGeom prst="rect">
            <a:avLst/>
          </a:prstGeom>
          <a:noFill/>
        </p:spPr>
        <p:txBody>
          <a:bodyPr wrap="square" lIns="0" tIns="0" rIns="0" bIns="0" anchor="t">
            <a:spAutoFit/>
          </a:bodyPr>
          <a:lstStyle/>
          <a:p>
            <a:pPr algn="ctr"/>
            <a:r>
              <a:rPr sz="1200" b="0">
                <a:solidFill>
                  <a:srgbClr val="16A34A"/>
                </a:solidFill>
                <a:latin typeface="Calibri"/>
              </a:rPr>
              <a:t>−16 %</a:t>
            </a:r>
          </a:p>
        </p:txBody>
      </p:sp>
      <p:sp>
        <p:nvSpPr>
          <p:cNvPr id="22" name="TextBox 21"/>
          <p:cNvSpPr txBox="1"/>
          <p:nvPr/>
        </p:nvSpPr>
        <p:spPr>
          <a:xfrm>
            <a:off x="7498079" y="3054096"/>
            <a:ext cx="1033271" cy="292608"/>
          </a:xfrm>
          <a:prstGeom prst="rect">
            <a:avLst/>
          </a:prstGeom>
          <a:noFill/>
        </p:spPr>
        <p:txBody>
          <a:bodyPr wrap="square" lIns="0" tIns="0" rIns="0" bIns="0" anchor="t">
            <a:spAutoFit/>
          </a:bodyPr>
          <a:lstStyle/>
          <a:p>
            <a:pPr algn="l"/>
            <a:r>
              <a:rPr sz="1200" b="1">
                <a:solidFill>
                  <a:srgbClr val="0F294B"/>
                </a:solidFill>
                <a:latin typeface="Calibri"/>
              </a:rPr>
              <a:t>Cost</a:t>
            </a:r>
          </a:p>
        </p:txBody>
      </p:sp>
      <p:sp>
        <p:nvSpPr>
          <p:cNvPr id="23" name="TextBox 22"/>
          <p:cNvSpPr txBox="1"/>
          <p:nvPr/>
        </p:nvSpPr>
        <p:spPr>
          <a:xfrm>
            <a:off x="8531351" y="3054096"/>
            <a:ext cx="1033271" cy="292608"/>
          </a:xfrm>
          <a:prstGeom prst="rect">
            <a:avLst/>
          </a:prstGeom>
          <a:noFill/>
        </p:spPr>
        <p:txBody>
          <a:bodyPr wrap="square" lIns="0" tIns="0" rIns="0" bIns="0" anchor="t">
            <a:spAutoFit/>
          </a:bodyPr>
          <a:lstStyle/>
          <a:p>
            <a:pPr algn="ctr"/>
            <a:r>
              <a:rPr sz="1200" b="0">
                <a:solidFill>
                  <a:srgbClr val="DC2626"/>
                </a:solidFill>
                <a:latin typeface="Calibri"/>
              </a:rPr>
              <a:t>0.40</a:t>
            </a:r>
          </a:p>
        </p:txBody>
      </p:sp>
      <p:sp>
        <p:nvSpPr>
          <p:cNvPr id="24" name="TextBox 23"/>
          <p:cNvSpPr txBox="1"/>
          <p:nvPr/>
        </p:nvSpPr>
        <p:spPr>
          <a:xfrm>
            <a:off x="9564624" y="3054096"/>
            <a:ext cx="1033271" cy="292608"/>
          </a:xfrm>
          <a:prstGeom prst="rect">
            <a:avLst/>
          </a:prstGeom>
          <a:noFill/>
        </p:spPr>
        <p:txBody>
          <a:bodyPr wrap="square" lIns="0" tIns="0" rIns="0" bIns="0" anchor="t">
            <a:spAutoFit/>
          </a:bodyPr>
          <a:lstStyle/>
          <a:p>
            <a:pPr algn="ctr"/>
            <a:r>
              <a:rPr sz="1200" b="0">
                <a:solidFill>
                  <a:srgbClr val="16A34A"/>
                </a:solidFill>
                <a:latin typeface="Calibri"/>
              </a:rPr>
              <a:t>0.09</a:t>
            </a:r>
          </a:p>
        </p:txBody>
      </p:sp>
      <p:sp>
        <p:nvSpPr>
          <p:cNvPr id="25" name="TextBox 24"/>
          <p:cNvSpPr txBox="1"/>
          <p:nvPr/>
        </p:nvSpPr>
        <p:spPr>
          <a:xfrm>
            <a:off x="10597896" y="3054096"/>
            <a:ext cx="1033271" cy="292608"/>
          </a:xfrm>
          <a:prstGeom prst="rect">
            <a:avLst/>
          </a:prstGeom>
          <a:noFill/>
        </p:spPr>
        <p:txBody>
          <a:bodyPr wrap="square" lIns="0" tIns="0" rIns="0" bIns="0" anchor="t">
            <a:spAutoFit/>
          </a:bodyPr>
          <a:lstStyle/>
          <a:p>
            <a:pPr algn="ctr"/>
            <a:r>
              <a:rPr sz="1200" b="0">
                <a:solidFill>
                  <a:srgbClr val="16A34A"/>
                </a:solidFill>
                <a:latin typeface="Calibri"/>
              </a:rPr>
              <a:t>−77 %</a:t>
            </a:r>
          </a:p>
        </p:txBody>
      </p:sp>
      <p:sp>
        <p:nvSpPr>
          <p:cNvPr id="26" name="TextBox 25"/>
          <p:cNvSpPr txBox="1"/>
          <p:nvPr/>
        </p:nvSpPr>
        <p:spPr>
          <a:xfrm>
            <a:off x="7498079" y="3374136"/>
            <a:ext cx="1033271" cy="292608"/>
          </a:xfrm>
          <a:prstGeom prst="rect">
            <a:avLst/>
          </a:prstGeom>
          <a:noFill/>
        </p:spPr>
        <p:txBody>
          <a:bodyPr wrap="square" lIns="0" tIns="0" rIns="0" bIns="0" anchor="t">
            <a:spAutoFit/>
          </a:bodyPr>
          <a:lstStyle/>
          <a:p>
            <a:pPr algn="l"/>
            <a:r>
              <a:rPr sz="1200" b="1">
                <a:solidFill>
                  <a:srgbClr val="0F294B"/>
                </a:solidFill>
                <a:latin typeface="Calibri"/>
              </a:rPr>
              <a:t>Length</a:t>
            </a:r>
          </a:p>
        </p:txBody>
      </p:sp>
      <p:sp>
        <p:nvSpPr>
          <p:cNvPr id="27" name="TextBox 26"/>
          <p:cNvSpPr txBox="1"/>
          <p:nvPr/>
        </p:nvSpPr>
        <p:spPr>
          <a:xfrm>
            <a:off x="8531351" y="3374136"/>
            <a:ext cx="1033271" cy="292608"/>
          </a:xfrm>
          <a:prstGeom prst="rect">
            <a:avLst/>
          </a:prstGeom>
          <a:noFill/>
        </p:spPr>
        <p:txBody>
          <a:bodyPr wrap="square" lIns="0" tIns="0" rIns="0" bIns="0" anchor="t">
            <a:spAutoFit/>
          </a:bodyPr>
          <a:lstStyle/>
          <a:p>
            <a:pPr algn="ctr"/>
            <a:r>
              <a:rPr sz="1200" b="0">
                <a:solidFill>
                  <a:srgbClr val="DC2626"/>
                </a:solidFill>
                <a:latin typeface="Calibri"/>
              </a:rPr>
              <a:t>14.6</a:t>
            </a:r>
          </a:p>
        </p:txBody>
      </p:sp>
      <p:sp>
        <p:nvSpPr>
          <p:cNvPr id="28" name="TextBox 27"/>
          <p:cNvSpPr txBox="1"/>
          <p:nvPr/>
        </p:nvSpPr>
        <p:spPr>
          <a:xfrm>
            <a:off x="9564624" y="3374136"/>
            <a:ext cx="1033271" cy="292608"/>
          </a:xfrm>
          <a:prstGeom prst="rect">
            <a:avLst/>
          </a:prstGeom>
          <a:noFill/>
        </p:spPr>
        <p:txBody>
          <a:bodyPr wrap="square" lIns="0" tIns="0" rIns="0" bIns="0" anchor="t">
            <a:spAutoFit/>
          </a:bodyPr>
          <a:lstStyle/>
          <a:p>
            <a:pPr algn="ctr"/>
            <a:r>
              <a:rPr sz="1200" b="0">
                <a:solidFill>
                  <a:srgbClr val="16A34A"/>
                </a:solidFill>
                <a:latin typeface="Calibri"/>
              </a:rPr>
              <a:t>16.7</a:t>
            </a:r>
          </a:p>
        </p:txBody>
      </p:sp>
      <p:sp>
        <p:nvSpPr>
          <p:cNvPr id="29" name="TextBox 28"/>
          <p:cNvSpPr txBox="1"/>
          <p:nvPr/>
        </p:nvSpPr>
        <p:spPr>
          <a:xfrm>
            <a:off x="10597896" y="3374136"/>
            <a:ext cx="1033271" cy="292608"/>
          </a:xfrm>
          <a:prstGeom prst="rect">
            <a:avLst/>
          </a:prstGeom>
          <a:noFill/>
        </p:spPr>
        <p:txBody>
          <a:bodyPr wrap="square" lIns="0" tIns="0" rIns="0" bIns="0" anchor="t">
            <a:spAutoFit/>
          </a:bodyPr>
          <a:lstStyle/>
          <a:p>
            <a:pPr algn="ctr"/>
            <a:r>
              <a:rPr sz="1200" b="0">
                <a:solidFill>
                  <a:srgbClr val="DC2626"/>
                </a:solidFill>
                <a:latin typeface="Calibri"/>
              </a:rPr>
              <a:t>+14 %</a:t>
            </a:r>
          </a:p>
        </p:txBody>
      </p:sp>
      <p:sp>
        <p:nvSpPr>
          <p:cNvPr id="30" name="TextBox 29"/>
          <p:cNvSpPr txBox="1"/>
          <p:nvPr/>
        </p:nvSpPr>
        <p:spPr>
          <a:xfrm>
            <a:off x="7498079" y="4023360"/>
            <a:ext cx="4114800" cy="1828800"/>
          </a:xfrm>
          <a:prstGeom prst="rect">
            <a:avLst/>
          </a:prstGeom>
          <a:noFill/>
        </p:spPr>
        <p:txBody>
          <a:bodyPr wrap="square" lIns="0" tIns="0" rIns="0" bIns="0" anchor="t">
            <a:spAutoFit/>
          </a:bodyPr>
          <a:lstStyle/>
          <a:p>
            <a:pPr algn="l"/>
            <a:r>
              <a:rPr sz="1200" b="0">
                <a:solidFill>
                  <a:srgbClr val="0F294B"/>
                </a:solidFill>
                <a:latin typeface="Calibri"/>
              </a:rPr>
              <a:t>9 % satisfies the constraint d = 0.1.
PPO never converges below 30–40 % cost  →
the safety gain is real, not a side-effect of more training.
Episode length grows with PPOLag — it drives more carefully, not faster.</a:t>
            </a:r>
          </a:p>
        </p:txBody>
      </p:sp>
      <p:sp>
        <p:nvSpPr>
          <p:cNvPr id="31" name="TextBox 30"/>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How PPOLag learns the constraint</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7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400" b="0">
                <a:solidFill>
                  <a:srgbClr val="64748B"/>
                </a:solidFill>
                <a:latin typeface="Calibri"/>
              </a:rPr>
              <a:t>Cost converges below the limit by epoch 5; PPO's cost stays high.</a:t>
            </a:r>
          </a:p>
        </p:txBody>
      </p:sp>
      <p:pic>
        <p:nvPicPr>
          <p:cNvPr id="6" name="Picture 5" descr="training_curves_combined.png"/>
          <p:cNvPicPr>
            <a:picLocks noChangeAspect="1"/>
          </p:cNvPicPr>
          <p:nvPr/>
        </p:nvPicPr>
        <p:blipFill>
          <a:blip r:embed="rId3"/>
          <a:stretch>
            <a:fillRect/>
          </a:stretch>
        </p:blipFill>
        <p:spPr>
          <a:xfrm>
            <a:off x="365760" y="1417320"/>
            <a:ext cx="11430000" cy="4267375"/>
          </a:xfrm>
          <a:prstGeom prst="rect">
            <a:avLst/>
          </a:prstGeom>
        </p:spPr>
      </p:pic>
      <p:sp>
        <p:nvSpPr>
          <p:cNvPr id="7" name="Rounded Rectangle 6"/>
          <p:cNvSpPr/>
          <p:nvPr/>
        </p:nvSpPr>
        <p:spPr>
          <a:xfrm>
            <a:off x="457200" y="5532120"/>
            <a:ext cx="11274552" cy="77724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650992"/>
            <a:ext cx="10698480" cy="548640"/>
          </a:xfrm>
          <a:prstGeom prst="rect">
            <a:avLst/>
          </a:prstGeom>
          <a:noFill/>
        </p:spPr>
        <p:txBody>
          <a:bodyPr wrap="square" lIns="0" tIns="0" rIns="0" bIns="0" anchor="t">
            <a:spAutoFit/>
          </a:bodyPr>
          <a:lstStyle/>
          <a:p>
            <a:pPr algn="l"/>
            <a:r>
              <a:rPr sz="1200" b="0">
                <a:solidFill>
                  <a:srgbClr val="0F294B"/>
                </a:solidFill>
                <a:latin typeface="Calibri"/>
              </a:rPr>
              <a:t>Constraint mechanism is observably working: PPOLag's cost (green squares, left) crosses below d = 0.1 around epoch 5 and stays there.  PPO's cost (red circles) oscillates between 0.2 and 0.7 — no incentive to learn safety.</a:t>
            </a:r>
          </a:p>
        </p:txBody>
      </p:sp>
      <p:sp>
        <p:nvSpPr>
          <p:cNvPr id="9" name="TextBox 8"/>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Cross-scenario:  does the recipe generalize?</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8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400" b="0">
                <a:solidFill>
                  <a:srgbClr val="64748B"/>
                </a:solidFill>
                <a:latin typeface="Calibri"/>
              </a:rPr>
              <a:t>Same algorithms, four different driving tasks.  PPO baseline now visible.</a:t>
            </a:r>
          </a:p>
        </p:txBody>
      </p:sp>
      <p:pic>
        <p:nvPicPr>
          <p:cNvPr id="6" name="Picture 5" descr="cross_scenario_with_ppo.png"/>
          <p:cNvPicPr>
            <a:picLocks noChangeAspect="1"/>
          </p:cNvPicPr>
          <p:nvPr/>
        </p:nvPicPr>
        <p:blipFill>
          <a:blip r:embed="rId3"/>
          <a:stretch>
            <a:fillRect/>
          </a:stretch>
        </p:blipFill>
        <p:spPr>
          <a:xfrm>
            <a:off x="365760" y="1417320"/>
            <a:ext cx="7772400" cy="3512810"/>
          </a:xfrm>
          <a:prstGeom prst="rect">
            <a:avLst/>
          </a:prstGeom>
        </p:spPr>
      </p:pic>
      <p:sp>
        <p:nvSpPr>
          <p:cNvPr id="7" name="Rounded Rectangle 6"/>
          <p:cNvSpPr/>
          <p:nvPr/>
        </p:nvSpPr>
        <p:spPr>
          <a:xfrm>
            <a:off x="8321040" y="1417320"/>
            <a:ext cx="3474720" cy="457200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0" y="1554480"/>
            <a:ext cx="3108960" cy="365760"/>
          </a:xfrm>
          <a:prstGeom prst="rect">
            <a:avLst/>
          </a:prstGeom>
          <a:noFill/>
        </p:spPr>
        <p:txBody>
          <a:bodyPr wrap="square" lIns="0" tIns="0" rIns="0" bIns="0" anchor="t">
            <a:spAutoFit/>
          </a:bodyPr>
          <a:lstStyle/>
          <a:p>
            <a:pPr algn="l"/>
            <a:r>
              <a:rPr sz="1300" b="1">
                <a:solidFill>
                  <a:srgbClr val="2563EB"/>
                </a:solidFill>
                <a:latin typeface="Calibri"/>
              </a:rPr>
              <a:t>Per-scenario verdict</a:t>
            </a:r>
          </a:p>
        </p:txBody>
      </p:sp>
      <p:sp>
        <p:nvSpPr>
          <p:cNvPr id="9" name="TextBox 8"/>
          <p:cNvSpPr txBox="1"/>
          <p:nvPr/>
        </p:nvSpPr>
        <p:spPr>
          <a:xfrm>
            <a:off x="8503920" y="1965960"/>
            <a:ext cx="3108960" cy="292608"/>
          </a:xfrm>
          <a:prstGeom prst="rect">
            <a:avLst/>
          </a:prstGeom>
          <a:noFill/>
        </p:spPr>
        <p:txBody>
          <a:bodyPr wrap="square" lIns="0" tIns="0" rIns="0" bIns="0" anchor="t">
            <a:spAutoFit/>
          </a:bodyPr>
          <a:lstStyle/>
          <a:p>
            <a:pPr algn="l"/>
            <a:r>
              <a:rPr sz="1200" b="1">
                <a:solidFill>
                  <a:srgbClr val="16A34A"/>
                </a:solidFill>
                <a:latin typeface="Calibri"/>
              </a:rPr>
              <a:t>Merge</a:t>
            </a:r>
          </a:p>
        </p:txBody>
      </p:sp>
      <p:sp>
        <p:nvSpPr>
          <p:cNvPr id="10" name="TextBox 9"/>
          <p:cNvSpPr txBox="1"/>
          <p:nvPr/>
        </p:nvSpPr>
        <p:spPr>
          <a:xfrm>
            <a:off x="8503920" y="2240280"/>
            <a:ext cx="3108960" cy="777240"/>
          </a:xfrm>
          <a:prstGeom prst="rect">
            <a:avLst/>
          </a:prstGeom>
          <a:noFill/>
        </p:spPr>
        <p:txBody>
          <a:bodyPr wrap="square" lIns="0" tIns="0" rIns="0" bIns="0" anchor="t">
            <a:spAutoFit/>
          </a:bodyPr>
          <a:lstStyle/>
          <a:p>
            <a:pPr algn="l"/>
            <a:r>
              <a:rPr sz="1100" b="0">
                <a:solidFill>
                  <a:srgbClr val="0F294B"/>
                </a:solidFill>
                <a:latin typeface="Calibri"/>
              </a:rPr>
              <a:t>PPOLag wins  (30 % vs 50 %).  CPO under-trained.</a:t>
            </a:r>
          </a:p>
        </p:txBody>
      </p:sp>
      <p:sp>
        <p:nvSpPr>
          <p:cNvPr id="11" name="TextBox 10"/>
          <p:cNvSpPr txBox="1"/>
          <p:nvPr/>
        </p:nvSpPr>
        <p:spPr>
          <a:xfrm>
            <a:off x="8503920" y="2971800"/>
            <a:ext cx="3108960" cy="292608"/>
          </a:xfrm>
          <a:prstGeom prst="rect">
            <a:avLst/>
          </a:prstGeom>
          <a:noFill/>
        </p:spPr>
        <p:txBody>
          <a:bodyPr wrap="square" lIns="0" tIns="0" rIns="0" bIns="0" anchor="t">
            <a:spAutoFit/>
          </a:bodyPr>
          <a:lstStyle/>
          <a:p>
            <a:pPr algn="l"/>
            <a:r>
              <a:rPr sz="1200" b="1">
                <a:solidFill>
                  <a:srgbClr val="16A34A"/>
                </a:solidFill>
                <a:latin typeface="Calibri"/>
              </a:rPr>
              <a:t>Highway</a:t>
            </a:r>
          </a:p>
        </p:txBody>
      </p:sp>
      <p:sp>
        <p:nvSpPr>
          <p:cNvPr id="12" name="TextBox 11"/>
          <p:cNvSpPr txBox="1"/>
          <p:nvPr/>
        </p:nvSpPr>
        <p:spPr>
          <a:xfrm>
            <a:off x="8503920" y="3246120"/>
            <a:ext cx="3108960" cy="777240"/>
          </a:xfrm>
          <a:prstGeom prst="rect">
            <a:avLst/>
          </a:prstGeom>
          <a:noFill/>
        </p:spPr>
        <p:txBody>
          <a:bodyPr wrap="square" lIns="0" tIns="0" rIns="0" bIns="0" anchor="t">
            <a:spAutoFit/>
          </a:bodyPr>
          <a:lstStyle/>
          <a:p>
            <a:pPr algn="l"/>
            <a:r>
              <a:rPr sz="1100" b="0">
                <a:solidFill>
                  <a:srgbClr val="0F294B"/>
                </a:solidFill>
                <a:latin typeface="Calibri"/>
              </a:rPr>
              <a:t>PPOLag wins  (55 % vs 100 %).</a:t>
            </a:r>
          </a:p>
        </p:txBody>
      </p:sp>
      <p:sp>
        <p:nvSpPr>
          <p:cNvPr id="13" name="TextBox 12"/>
          <p:cNvSpPr txBox="1"/>
          <p:nvPr/>
        </p:nvSpPr>
        <p:spPr>
          <a:xfrm>
            <a:off x="8503920" y="3977640"/>
            <a:ext cx="3108960" cy="292608"/>
          </a:xfrm>
          <a:prstGeom prst="rect">
            <a:avLst/>
          </a:prstGeom>
          <a:noFill/>
        </p:spPr>
        <p:txBody>
          <a:bodyPr wrap="square" lIns="0" tIns="0" rIns="0" bIns="0" anchor="t">
            <a:spAutoFit/>
          </a:bodyPr>
          <a:lstStyle/>
          <a:p>
            <a:pPr algn="l"/>
            <a:r>
              <a:rPr sz="1200" b="1">
                <a:solidFill>
                  <a:srgbClr val="64748B"/>
                </a:solidFill>
                <a:latin typeface="Calibri"/>
              </a:rPr>
              <a:t>Roundabout</a:t>
            </a:r>
          </a:p>
        </p:txBody>
      </p:sp>
      <p:sp>
        <p:nvSpPr>
          <p:cNvPr id="14" name="TextBox 13"/>
          <p:cNvSpPr txBox="1"/>
          <p:nvPr/>
        </p:nvSpPr>
        <p:spPr>
          <a:xfrm>
            <a:off x="8503920" y="4251960"/>
            <a:ext cx="3108960" cy="777240"/>
          </a:xfrm>
          <a:prstGeom prst="rect">
            <a:avLst/>
          </a:prstGeom>
          <a:noFill/>
        </p:spPr>
        <p:txBody>
          <a:bodyPr wrap="square" lIns="0" tIns="0" rIns="0" bIns="0" anchor="t">
            <a:spAutoFit/>
          </a:bodyPr>
          <a:lstStyle/>
          <a:p>
            <a:pPr algn="l"/>
            <a:r>
              <a:rPr sz="1100" b="0">
                <a:solidFill>
                  <a:srgbClr val="0F294B"/>
                </a:solidFill>
                <a:latin typeface="Calibri"/>
              </a:rPr>
              <a:t>Tie at 40 % — but see slide 10.</a:t>
            </a:r>
          </a:p>
        </p:txBody>
      </p:sp>
      <p:sp>
        <p:nvSpPr>
          <p:cNvPr id="15" name="TextBox 14"/>
          <p:cNvSpPr txBox="1"/>
          <p:nvPr/>
        </p:nvSpPr>
        <p:spPr>
          <a:xfrm>
            <a:off x="8503920" y="4983480"/>
            <a:ext cx="3108960" cy="292608"/>
          </a:xfrm>
          <a:prstGeom prst="rect">
            <a:avLst/>
          </a:prstGeom>
          <a:noFill/>
        </p:spPr>
        <p:txBody>
          <a:bodyPr wrap="square" lIns="0" tIns="0" rIns="0" bIns="0" anchor="t">
            <a:spAutoFit/>
          </a:bodyPr>
          <a:lstStyle/>
          <a:p>
            <a:pPr algn="l"/>
            <a:r>
              <a:rPr sz="1200" b="1">
                <a:solidFill>
                  <a:srgbClr val="DC2626"/>
                </a:solidFill>
                <a:latin typeface="Calibri"/>
              </a:rPr>
              <a:t>Intersection</a:t>
            </a:r>
          </a:p>
        </p:txBody>
      </p:sp>
      <p:sp>
        <p:nvSpPr>
          <p:cNvPr id="16" name="TextBox 15"/>
          <p:cNvSpPr txBox="1"/>
          <p:nvPr/>
        </p:nvSpPr>
        <p:spPr>
          <a:xfrm>
            <a:off x="8503920" y="5257800"/>
            <a:ext cx="3108960" cy="777240"/>
          </a:xfrm>
          <a:prstGeom prst="rect">
            <a:avLst/>
          </a:prstGeom>
          <a:noFill/>
        </p:spPr>
        <p:txBody>
          <a:bodyPr wrap="square" lIns="0" tIns="0" rIns="0" bIns="0" anchor="t">
            <a:spAutoFit/>
          </a:bodyPr>
          <a:lstStyle/>
          <a:p>
            <a:pPr algn="l"/>
            <a:r>
              <a:rPr sz="1100" b="0">
                <a:solidFill>
                  <a:srgbClr val="0F294B"/>
                </a:solidFill>
                <a:latin typeface="Calibri"/>
              </a:rPr>
              <a:t>CMDP fails  (50 % vs 50 %).  Episode is too short.</a:t>
            </a:r>
          </a:p>
        </p:txBody>
      </p:sp>
      <p:sp>
        <p:nvSpPr>
          <p:cNvPr id="17" name="TextBox 16"/>
          <p:cNvSpPr txBox="1"/>
          <p:nvPr/>
        </p:nvSpPr>
        <p:spPr>
          <a:xfrm>
            <a:off x="457200" y="5989320"/>
            <a:ext cx="11274552" cy="411480"/>
          </a:xfrm>
          <a:prstGeom prst="rect">
            <a:avLst/>
          </a:prstGeom>
          <a:noFill/>
        </p:spPr>
        <p:txBody>
          <a:bodyPr wrap="square" lIns="0" tIns="0" rIns="0" bIns="0" anchor="t">
            <a:spAutoFit/>
          </a:bodyPr>
          <a:lstStyle/>
          <a:p>
            <a:pPr algn="l"/>
            <a:r>
              <a:rPr sz="1100" b="0">
                <a:solidFill>
                  <a:srgbClr val="64748B"/>
                </a:solidFill>
                <a:latin typeface="Calibri"/>
              </a:rPr>
              <a:t>Caveat: cross-scenario sweep used a short budget (2 ep × 300 steps; 2 seeds).  Trends are clear but absolute numbers are not directly comparable to slide 6.</a:t>
            </a:r>
          </a:p>
        </p:txBody>
      </p:sp>
      <p:sp>
        <p:nvSpPr>
          <p:cNvPr id="18" name="TextBox 17"/>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The Lagrangian is doing its job</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9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400" b="0">
                <a:solidFill>
                  <a:srgbClr val="64748B"/>
                </a:solidFill>
                <a:latin typeface="Calibri"/>
              </a:rPr>
              <a:t>We don't log λ directly, but cost-vs-limit shows the controller is converging.</a:t>
            </a:r>
          </a:p>
        </p:txBody>
      </p:sp>
      <p:pic>
        <p:nvPicPr>
          <p:cNvPr id="6" name="Picture 5" descr="constraint_convergence.png"/>
          <p:cNvPicPr>
            <a:picLocks noChangeAspect="1"/>
          </p:cNvPicPr>
          <p:nvPr/>
        </p:nvPicPr>
        <p:blipFill>
          <a:blip r:embed="rId3"/>
          <a:stretch>
            <a:fillRect/>
          </a:stretch>
        </p:blipFill>
        <p:spPr>
          <a:xfrm>
            <a:off x="1463040" y="1417320"/>
            <a:ext cx="9144000" cy="4251097"/>
          </a:xfrm>
          <a:prstGeom prst="rect">
            <a:avLst/>
          </a:prstGeom>
        </p:spPr>
      </p:pic>
      <p:sp>
        <p:nvSpPr>
          <p:cNvPr id="7" name="TextBox 6"/>
          <p:cNvSpPr txBox="1"/>
          <p:nvPr/>
        </p:nvSpPr>
        <p:spPr>
          <a:xfrm>
            <a:off x="457200" y="5943600"/>
            <a:ext cx="11274552" cy="640080"/>
          </a:xfrm>
          <a:prstGeom prst="rect">
            <a:avLst/>
          </a:prstGeom>
          <a:noFill/>
        </p:spPr>
        <p:txBody>
          <a:bodyPr wrap="square" lIns="0" tIns="0" rIns="0" bIns="0" anchor="t">
            <a:spAutoFit/>
          </a:bodyPr>
          <a:lstStyle/>
          <a:p>
            <a:pPr algn="l"/>
            <a:r>
              <a:rPr sz="1200" b="0">
                <a:solidFill>
                  <a:srgbClr val="0F294B"/>
                </a:solidFill>
                <a:latin typeface="Calibri"/>
              </a:rPr>
              <a:t>If PPOLag were just PPO with a cosmetic penalty, cost would never predictably approach the limit.  The smooth descent toward d = 0.1 is direct evidence that the PID-Lagrangian (Kp=10, Ki=1, Kd=1) is actually closing the loop.</a:t>
            </a:r>
          </a:p>
        </p:txBody>
      </p:sp>
      <p:sp>
        <p:nvSpPr>
          <p:cNvPr id="8" name="TextBox 7"/>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What did NOT work — and why</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10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400" b="0">
                <a:solidFill>
                  <a:srgbClr val="64748B"/>
                </a:solidFill>
                <a:latin typeface="Calibri"/>
              </a:rPr>
              <a:t>Three negative findings worth showing because they explain when CMDP breaks.</a:t>
            </a:r>
          </a:p>
        </p:txBody>
      </p:sp>
      <p:sp>
        <p:nvSpPr>
          <p:cNvPr id="6" name="Rounded Rectangle 5"/>
          <p:cNvSpPr/>
          <p:nvPr/>
        </p:nvSpPr>
        <p:spPr>
          <a:xfrm>
            <a:off x="457200" y="1417320"/>
            <a:ext cx="3749039" cy="457200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417320"/>
            <a:ext cx="3749039"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627632"/>
            <a:ext cx="3383279" cy="640080"/>
          </a:xfrm>
          <a:prstGeom prst="rect">
            <a:avLst/>
          </a:prstGeom>
          <a:noFill/>
        </p:spPr>
        <p:txBody>
          <a:bodyPr wrap="square" lIns="0" tIns="0" rIns="0" bIns="0" anchor="t">
            <a:spAutoFit/>
          </a:bodyPr>
          <a:lstStyle/>
          <a:p>
            <a:pPr algn="l"/>
            <a:r>
              <a:rPr sz="1300" b="1">
                <a:solidFill>
                  <a:srgbClr val="DC2626"/>
                </a:solidFill>
                <a:latin typeface="Calibri"/>
              </a:rPr>
              <a:t>Roundabout:  freezing-robot</a:t>
            </a:r>
          </a:p>
        </p:txBody>
      </p:sp>
      <p:sp>
        <p:nvSpPr>
          <p:cNvPr id="9" name="TextBox 8"/>
          <p:cNvSpPr txBox="1"/>
          <p:nvPr/>
        </p:nvSpPr>
        <p:spPr>
          <a:xfrm>
            <a:off x="685800" y="2240280"/>
            <a:ext cx="3383279" cy="3657600"/>
          </a:xfrm>
          <a:prstGeom prst="rect">
            <a:avLst/>
          </a:prstGeom>
          <a:noFill/>
        </p:spPr>
        <p:txBody>
          <a:bodyPr wrap="square" lIns="0" tIns="0" rIns="0" bIns="0" anchor="t">
            <a:spAutoFit/>
          </a:bodyPr>
          <a:lstStyle/>
          <a:p>
            <a:pPr algn="l"/>
            <a:r>
              <a:rPr sz="1100" b="0">
                <a:solidFill>
                  <a:srgbClr val="0F294B"/>
                </a:solidFill>
                <a:latin typeface="Calibri"/>
              </a:rPr>
              <a:t>PPOLag converges to avg reward = −0.44 (CPO scores 4.64).
A negative reward means the agent is being penalized faster than it earns.  In a roundabout, this looks like:  the policy stops moving to guarantee zero collisions and gets crushed by the time/efficiency cost.
Classic failure mode in safe-RL literature; we observed it directly.</a:t>
            </a:r>
          </a:p>
        </p:txBody>
      </p:sp>
      <p:sp>
        <p:nvSpPr>
          <p:cNvPr id="10" name="Rounded Rectangle 9"/>
          <p:cNvSpPr/>
          <p:nvPr/>
        </p:nvSpPr>
        <p:spPr>
          <a:xfrm>
            <a:off x="4297680" y="1417320"/>
            <a:ext cx="3749039" cy="457200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1417320"/>
            <a:ext cx="3749039"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6280" y="1627632"/>
            <a:ext cx="3383279" cy="640080"/>
          </a:xfrm>
          <a:prstGeom prst="rect">
            <a:avLst/>
          </a:prstGeom>
          <a:noFill/>
        </p:spPr>
        <p:txBody>
          <a:bodyPr wrap="square" lIns="0" tIns="0" rIns="0" bIns="0" anchor="t">
            <a:spAutoFit/>
          </a:bodyPr>
          <a:lstStyle/>
          <a:p>
            <a:pPr algn="l"/>
            <a:r>
              <a:rPr sz="1300" b="1">
                <a:solidFill>
                  <a:srgbClr val="F59E0B"/>
                </a:solidFill>
                <a:latin typeface="Calibri"/>
              </a:rPr>
              <a:t>Intersection:  CMDP gives no advantage</a:t>
            </a:r>
          </a:p>
        </p:txBody>
      </p:sp>
      <p:sp>
        <p:nvSpPr>
          <p:cNvPr id="13" name="TextBox 12"/>
          <p:cNvSpPr txBox="1"/>
          <p:nvPr/>
        </p:nvSpPr>
        <p:spPr>
          <a:xfrm>
            <a:off x="4526280" y="2240280"/>
            <a:ext cx="3383279" cy="3657600"/>
          </a:xfrm>
          <a:prstGeom prst="rect">
            <a:avLst/>
          </a:prstGeom>
          <a:noFill/>
        </p:spPr>
        <p:txBody>
          <a:bodyPr wrap="square" lIns="0" tIns="0" rIns="0" bIns="0" anchor="t">
            <a:spAutoFit/>
          </a:bodyPr>
          <a:lstStyle/>
          <a:p>
            <a:pPr algn="l"/>
            <a:r>
              <a:rPr sz="1100" b="0">
                <a:solidFill>
                  <a:srgbClr val="0F294B"/>
                </a:solidFill>
                <a:latin typeface="Calibri"/>
              </a:rPr>
              <a:t>PPO 50 %, PPOLag 50 %, CPO 45 %.
Episode length on intersection-v1 is only ~4 steps before crash.  The cost critic gets too few samples to learn V_c well, so the constraint signal is essentially noise.
Implication:  CMDP is not a free lunch.  Sparse-cost / short-horizon tasks need different machinery (e.g. recovery shielding).</a:t>
            </a:r>
          </a:p>
        </p:txBody>
      </p:sp>
      <p:sp>
        <p:nvSpPr>
          <p:cNvPr id="14" name="Rounded Rectangle 13"/>
          <p:cNvSpPr/>
          <p:nvPr/>
        </p:nvSpPr>
        <p:spPr>
          <a:xfrm>
            <a:off x="8138160" y="1417320"/>
            <a:ext cx="3749039" cy="457200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1417320"/>
            <a:ext cx="3749039"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60" y="1627632"/>
            <a:ext cx="3383279" cy="640080"/>
          </a:xfrm>
          <a:prstGeom prst="rect">
            <a:avLst/>
          </a:prstGeom>
          <a:noFill/>
        </p:spPr>
        <p:txBody>
          <a:bodyPr wrap="square" lIns="0" tIns="0" rIns="0" bIns="0" anchor="t">
            <a:spAutoFit/>
          </a:bodyPr>
          <a:lstStyle/>
          <a:p>
            <a:pPr algn="l"/>
            <a:r>
              <a:rPr sz="1300" b="1">
                <a:solidFill>
                  <a:srgbClr val="2563EB"/>
                </a:solidFill>
                <a:latin typeface="Calibri"/>
              </a:rPr>
              <a:t>CPO:  brittle on discrete + short budget</a:t>
            </a:r>
          </a:p>
        </p:txBody>
      </p:sp>
      <p:sp>
        <p:nvSpPr>
          <p:cNvPr id="17" name="TextBox 16"/>
          <p:cNvSpPr txBox="1"/>
          <p:nvPr/>
        </p:nvSpPr>
        <p:spPr>
          <a:xfrm>
            <a:off x="8366760" y="2240280"/>
            <a:ext cx="3383279" cy="3657600"/>
          </a:xfrm>
          <a:prstGeom prst="rect">
            <a:avLst/>
          </a:prstGeom>
          <a:noFill/>
        </p:spPr>
        <p:txBody>
          <a:bodyPr wrap="square" lIns="0" tIns="0" rIns="0" bIns="0" anchor="t">
            <a:spAutoFit/>
          </a:bodyPr>
          <a:lstStyle/>
          <a:p>
            <a:pPr algn="l"/>
            <a:r>
              <a:rPr sz="1100" b="0">
                <a:solidFill>
                  <a:srgbClr val="0F294B"/>
                </a:solidFill>
                <a:latin typeface="Calibri"/>
              </a:rPr>
              <a:t>100 % collision on Merge and Highway.
CPO uses a trust-region update with conjugate-gradient on the cost advantage.  With sparse cost (one bit per crash) and only 600 training steps per run, the cost critic is too noisy → CG produces unsafe directions.
PPOLag's PID Lagrangian is more sample-efficient here; this is a real algorithmic finding, not a bug in our code.</a:t>
            </a:r>
          </a:p>
        </p:txBody>
      </p:sp>
      <p:sp>
        <p:nvSpPr>
          <p:cNvPr id="18" name="TextBox 17"/>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Reward vs. safety frontier</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11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400" b="0">
                <a:solidFill>
                  <a:srgbClr val="64748B"/>
                </a:solidFill>
                <a:latin typeface="Calibri"/>
              </a:rPr>
              <a:t>All 12 (algorithm × scenario) cells on one plot. Top-left dominates.</a:t>
            </a:r>
          </a:p>
        </p:txBody>
      </p:sp>
      <p:pic>
        <p:nvPicPr>
          <p:cNvPr id="6" name="Picture 5" descr="reward_vs_safety.png"/>
          <p:cNvPicPr>
            <a:picLocks noChangeAspect="1"/>
          </p:cNvPicPr>
          <p:nvPr/>
        </p:nvPicPr>
        <p:blipFill>
          <a:blip r:embed="rId3"/>
          <a:stretch>
            <a:fillRect/>
          </a:stretch>
        </p:blipFill>
        <p:spPr>
          <a:xfrm>
            <a:off x="457200" y="1417320"/>
            <a:ext cx="6949440" cy="5191432"/>
          </a:xfrm>
          <a:prstGeom prst="rect">
            <a:avLst/>
          </a:prstGeom>
        </p:spPr>
      </p:pic>
      <p:sp>
        <p:nvSpPr>
          <p:cNvPr id="7" name="Rounded Rectangle 6"/>
          <p:cNvSpPr/>
          <p:nvPr/>
        </p:nvSpPr>
        <p:spPr>
          <a:xfrm>
            <a:off x="7680960" y="1417320"/>
            <a:ext cx="4114800" cy="457200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09560" y="1554480"/>
            <a:ext cx="3657600" cy="365760"/>
          </a:xfrm>
          <a:prstGeom prst="rect">
            <a:avLst/>
          </a:prstGeom>
          <a:noFill/>
        </p:spPr>
        <p:txBody>
          <a:bodyPr wrap="square" lIns="0" tIns="0" rIns="0" bIns="0" anchor="t">
            <a:spAutoFit/>
          </a:bodyPr>
          <a:lstStyle/>
          <a:p>
            <a:pPr algn="l"/>
            <a:r>
              <a:rPr sz="1400" b="1">
                <a:solidFill>
                  <a:srgbClr val="2563EB"/>
                </a:solidFill>
                <a:latin typeface="Calibri"/>
              </a:rPr>
              <a:t>What this shows</a:t>
            </a:r>
          </a:p>
        </p:txBody>
      </p:sp>
      <p:sp>
        <p:nvSpPr>
          <p:cNvPr id="9" name="TextBox 8"/>
          <p:cNvSpPr txBox="1"/>
          <p:nvPr/>
        </p:nvSpPr>
        <p:spPr>
          <a:xfrm>
            <a:off x="7909560" y="2011680"/>
            <a:ext cx="3657600" cy="3840480"/>
          </a:xfrm>
          <a:prstGeom prst="rect">
            <a:avLst/>
          </a:prstGeom>
          <a:noFill/>
        </p:spPr>
        <p:txBody>
          <a:bodyPr wrap="square" lIns="0" tIns="0" rIns="0" bIns="0">
            <a:spAutoFit/>
          </a:bodyPr>
          <a:lstStyle/>
          <a:p>
            <a:pPr algn="l">
              <a:lnSpc>
                <a:spcPct val="125000"/>
              </a:lnSpc>
              <a:spcAft>
                <a:spcPts val="400"/>
              </a:spcAft>
            </a:pPr>
            <a:r>
              <a:rPr sz="1200" b="1">
                <a:solidFill>
                  <a:srgbClr val="64748B"/>
                </a:solidFill>
                <a:latin typeface="Calibri"/>
              </a:rPr>
              <a:t>•  </a:t>
            </a:r>
            <a:r>
              <a:rPr sz="1200">
                <a:solidFill>
                  <a:srgbClr val="0F294B"/>
                </a:solidFill>
                <a:latin typeface="Calibri"/>
              </a:rPr>
              <a:t>PPOLag/Merge sits alone in the top-left quadrant — high reward AND low collision.</a:t>
            </a:r>
          </a:p>
          <a:p>
            <a:pPr algn="l">
              <a:lnSpc>
                <a:spcPct val="125000"/>
              </a:lnSpc>
              <a:spcAft>
                <a:spcPts val="400"/>
              </a:spcAft>
            </a:pPr>
            <a:r>
              <a:rPr sz="1200" b="1">
                <a:solidFill>
                  <a:srgbClr val="64748B"/>
                </a:solidFill>
                <a:latin typeface="Calibri"/>
              </a:rPr>
              <a:t>•  </a:t>
            </a:r>
            <a:r>
              <a:rPr sz="1200">
                <a:solidFill>
                  <a:srgbClr val="0F294B"/>
                </a:solidFill>
                <a:latin typeface="Calibri"/>
              </a:rPr>
              <a:t>CPO/Highway, CPO/Merge collapse to 100 % collision.</a:t>
            </a:r>
          </a:p>
          <a:p>
            <a:pPr algn="l">
              <a:lnSpc>
                <a:spcPct val="125000"/>
              </a:lnSpc>
              <a:spcAft>
                <a:spcPts val="400"/>
              </a:spcAft>
            </a:pPr>
            <a:r>
              <a:rPr sz="1200" b="1">
                <a:solidFill>
                  <a:srgbClr val="64748B"/>
                </a:solidFill>
                <a:latin typeface="Calibri"/>
              </a:rPr>
              <a:t>•  </a:t>
            </a:r>
            <a:r>
              <a:rPr sz="1200">
                <a:solidFill>
                  <a:srgbClr val="0F294B"/>
                </a:solidFill>
                <a:latin typeface="Calibri"/>
              </a:rPr>
              <a:t>Intersection cluster (~45-50 %) is the same regardless of algorithm — confirming our Slide 10 diagnosis.</a:t>
            </a:r>
          </a:p>
          <a:p>
            <a:pPr algn="l">
              <a:lnSpc>
                <a:spcPct val="125000"/>
              </a:lnSpc>
              <a:spcAft>
                <a:spcPts val="400"/>
              </a:spcAft>
            </a:pPr>
            <a:r>
              <a:rPr sz="1200" b="1">
                <a:solidFill>
                  <a:srgbClr val="64748B"/>
                </a:solidFill>
                <a:latin typeface="Calibri"/>
              </a:rPr>
              <a:t>•  </a:t>
            </a:r>
            <a:r>
              <a:rPr sz="1200">
                <a:solidFill>
                  <a:srgbClr val="0F294B"/>
                </a:solidFill>
                <a:latin typeface="Calibri"/>
              </a:rPr>
              <a:t>Significance:  Merge collision p = 0.000;  reward p = 0.002 (Welch t-test, PPOLag vs CPO).</a:t>
            </a:r>
          </a:p>
        </p:txBody>
      </p:sp>
      <p:sp>
        <p:nvSpPr>
          <p:cNvPr id="10" name="TextBox 9"/>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Live demo:  PPO vs PPOLag on merge-v0</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13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400" b="0">
                <a:solidFill>
                  <a:srgbClr val="64748B"/>
                </a:solidFill>
                <a:latin typeface="Calibri"/>
              </a:rPr>
              <a:t>~33 seconds, side-by-side, same seeds, same dense traffic.  File:  figures/ppo_vs_ppolag_demo.mp4</a:t>
            </a:r>
          </a:p>
        </p:txBody>
      </p:sp>
      <p:pic>
        <p:nvPicPr>
          <p:cNvPr id="6" name="Picture 5" descr="demo_poster.png"/>
          <p:cNvPicPr>
            <a:picLocks noChangeAspect="1"/>
          </p:cNvPicPr>
          <p:nvPr/>
        </p:nvPicPr>
        <p:blipFill>
          <a:blip r:embed="rId5"/>
          <a:stretch>
            <a:fillRect/>
          </a:stretch>
        </p:blipFill>
        <p:spPr>
          <a:xfrm>
            <a:off x="640080" y="1417320"/>
            <a:ext cx="10908792" cy="2157783"/>
          </a:xfrm>
          <a:prstGeom prst="rect">
            <a:avLst/>
          </a:prstGeom>
        </p:spPr>
      </p:pic>
      <p:pic>
        <p:nvPicPr>
          <p:cNvPr id="7" name="ppo_vs_ppolag_demo.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40080" y="1417320"/>
            <a:ext cx="10908792" cy="4023360"/>
          </a:xfrm>
          <a:prstGeom prst="rect">
            <a:avLst/>
          </a:prstGeom>
        </p:spPr>
      </p:pic>
      <p:sp>
        <p:nvSpPr>
          <p:cNvPr id="8" name="Rounded Rectangle 7"/>
          <p:cNvSpPr/>
          <p:nvPr/>
        </p:nvSpPr>
        <p:spPr>
          <a:xfrm>
            <a:off x="640080" y="4983480"/>
            <a:ext cx="10908792" cy="64008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5074920"/>
            <a:ext cx="10515600" cy="457200"/>
          </a:xfrm>
          <a:prstGeom prst="rect">
            <a:avLst/>
          </a:prstGeom>
          <a:noFill/>
        </p:spPr>
        <p:txBody>
          <a:bodyPr wrap="square" lIns="0" tIns="0" rIns="0" bIns="0" anchor="t">
            <a:spAutoFit/>
          </a:bodyPr>
          <a:lstStyle/>
          <a:p>
            <a:pPr algn="l"/>
            <a:r>
              <a:rPr sz="1200" b="1">
                <a:solidFill>
                  <a:srgbClr val="0F294B"/>
                </a:solidFill>
                <a:latin typeface="Calibri"/>
              </a:rPr>
              <a:t>Finding: both policies use 0 % LANE_LEFT.  PPOLag's safety strategy is 98.5 % SLOWER — it learned to brake, not to merge cleverly.</a:t>
            </a:r>
          </a:p>
        </p:txBody>
      </p:sp>
      <p:sp>
        <p:nvSpPr>
          <p:cNvPr id="10" name="Rounded Rectangle 9"/>
          <p:cNvSpPr/>
          <p:nvPr/>
        </p:nvSpPr>
        <p:spPr>
          <a:xfrm>
            <a:off x="457200" y="5669280"/>
            <a:ext cx="11274552" cy="77724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5779008"/>
            <a:ext cx="10698480" cy="548640"/>
          </a:xfrm>
          <a:prstGeom prst="rect">
            <a:avLst/>
          </a:prstGeom>
          <a:noFill/>
        </p:spPr>
        <p:txBody>
          <a:bodyPr wrap="square" lIns="0" tIns="0" rIns="0" bIns="0" anchor="t">
            <a:spAutoFit/>
          </a:bodyPr>
          <a:lstStyle/>
          <a:p>
            <a:pPr algn="l"/>
            <a:r>
              <a:rPr sz="1200" b="0">
                <a:solidFill>
                  <a:srgbClr val="0F294B"/>
                </a:solidFill>
                <a:latin typeface="Calibri"/>
              </a:rPr>
              <a:t>Watch for:  PPO often races into closing gaps and clips a neighbor.  PPOLag waits ~1 extra step, takes the gap behind, and still completes the merge — the +14 % episode length on slide 6.</a:t>
            </a:r>
          </a:p>
        </p:txBody>
      </p:sp>
      <p:sp>
        <p:nvSpPr>
          <p:cNvPr id="12" name="TextBox 11"/>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All four scenarios — what each policy learns</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14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400" b="0">
                <a:solidFill>
                  <a:srgbClr val="64748B"/>
                </a:solidFill>
                <a:latin typeface="Calibri"/>
              </a:rPr>
              <a:t>20-second tour: each env plays for ~5 s with its own trained policy.  File:  all_envs_demo.mp4</a:t>
            </a:r>
          </a:p>
        </p:txBody>
      </p:sp>
      <p:pic>
        <p:nvPicPr>
          <p:cNvPr id="6" name="Picture 5" descr="all_envs_poster.png"/>
          <p:cNvPicPr>
            <a:picLocks noChangeAspect="1"/>
          </p:cNvPicPr>
          <p:nvPr/>
        </p:nvPicPr>
        <p:blipFill>
          <a:blip r:embed="rId5"/>
          <a:stretch>
            <a:fillRect/>
          </a:stretch>
        </p:blipFill>
        <p:spPr>
          <a:xfrm>
            <a:off x="457200" y="1417320"/>
            <a:ext cx="6858000" cy="2971800"/>
          </a:xfrm>
          <a:prstGeom prst="rect">
            <a:avLst/>
          </a:prstGeom>
        </p:spPr>
      </p:pic>
      <p:pic>
        <p:nvPicPr>
          <p:cNvPr id="7" name="all_envs_demo.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57200" y="1417320"/>
            <a:ext cx="6858000" cy="2468880"/>
          </a:xfrm>
          <a:prstGeom prst="rect">
            <a:avLst/>
          </a:prstGeom>
        </p:spPr>
      </p:pic>
      <p:sp>
        <p:nvSpPr>
          <p:cNvPr id="8" name="Rounded Rectangle 7"/>
          <p:cNvSpPr/>
          <p:nvPr/>
        </p:nvSpPr>
        <p:spPr>
          <a:xfrm>
            <a:off x="7543800" y="1417320"/>
            <a:ext cx="4206240" cy="489204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26679" y="1554480"/>
            <a:ext cx="3931920" cy="365760"/>
          </a:xfrm>
          <a:prstGeom prst="rect">
            <a:avLst/>
          </a:prstGeom>
          <a:noFill/>
        </p:spPr>
        <p:txBody>
          <a:bodyPr wrap="square" lIns="0" tIns="0" rIns="0" bIns="0" anchor="t">
            <a:spAutoFit/>
          </a:bodyPr>
          <a:lstStyle/>
          <a:p>
            <a:pPr algn="l"/>
            <a:r>
              <a:rPr sz="1300" b="1">
                <a:solidFill>
                  <a:srgbClr val="2563EB"/>
                </a:solidFill>
                <a:latin typeface="Calibri"/>
              </a:rPr>
              <a:t>Per-scenario behaviour</a:t>
            </a:r>
          </a:p>
        </p:txBody>
      </p:sp>
      <p:sp>
        <p:nvSpPr>
          <p:cNvPr id="10" name="TextBox 9"/>
          <p:cNvSpPr txBox="1"/>
          <p:nvPr/>
        </p:nvSpPr>
        <p:spPr>
          <a:xfrm>
            <a:off x="7726679" y="1965960"/>
            <a:ext cx="3931920" cy="256032"/>
          </a:xfrm>
          <a:prstGeom prst="rect">
            <a:avLst/>
          </a:prstGeom>
          <a:noFill/>
        </p:spPr>
        <p:txBody>
          <a:bodyPr wrap="square" lIns="0" tIns="0" rIns="0" bIns="0" anchor="t">
            <a:spAutoFit/>
          </a:bodyPr>
          <a:lstStyle/>
          <a:p>
            <a:pPr algn="l"/>
            <a:r>
              <a:rPr sz="1200" b="1">
                <a:solidFill>
                  <a:srgbClr val="16A34A"/>
                </a:solidFill>
                <a:latin typeface="Calibri"/>
              </a:rPr>
              <a:t>Merge</a:t>
            </a:r>
          </a:p>
        </p:txBody>
      </p:sp>
      <p:sp>
        <p:nvSpPr>
          <p:cNvPr id="11" name="TextBox 10"/>
          <p:cNvSpPr txBox="1"/>
          <p:nvPr/>
        </p:nvSpPr>
        <p:spPr>
          <a:xfrm>
            <a:off x="7726679" y="2221992"/>
            <a:ext cx="3931920" cy="237744"/>
          </a:xfrm>
          <a:prstGeom prst="rect">
            <a:avLst/>
          </a:prstGeom>
          <a:noFill/>
        </p:spPr>
        <p:txBody>
          <a:bodyPr wrap="square" lIns="0" tIns="0" rIns="0" bIns="0" anchor="t">
            <a:spAutoFit/>
          </a:bodyPr>
          <a:lstStyle/>
          <a:p>
            <a:pPr algn="l"/>
            <a:r>
              <a:rPr sz="1000" b="1">
                <a:solidFill>
                  <a:srgbClr val="0F294B"/>
                </a:solidFill>
                <a:latin typeface="Calibri"/>
              </a:rPr>
              <a:t>0/3 crashes  (0 %)</a:t>
            </a:r>
          </a:p>
        </p:txBody>
      </p:sp>
      <p:sp>
        <p:nvSpPr>
          <p:cNvPr id="12" name="TextBox 11"/>
          <p:cNvSpPr txBox="1"/>
          <p:nvPr/>
        </p:nvSpPr>
        <p:spPr>
          <a:xfrm>
            <a:off x="7726679" y="2459736"/>
            <a:ext cx="3931920" cy="237744"/>
          </a:xfrm>
          <a:prstGeom prst="rect">
            <a:avLst/>
          </a:prstGeom>
          <a:noFill/>
        </p:spPr>
        <p:txBody>
          <a:bodyPr wrap="square" lIns="0" tIns="0" rIns="0" bIns="0" anchor="t">
            <a:spAutoFit/>
          </a:bodyPr>
          <a:lstStyle/>
          <a:p>
            <a:pPr algn="l"/>
            <a:r>
              <a:rPr sz="1000" b="0">
                <a:solidFill>
                  <a:srgbClr val="64748B"/>
                </a:solidFill>
                <a:latin typeface="Calibri"/>
              </a:rPr>
              <a:t>SLOWER 97 %, IDLE 3 %</a:t>
            </a:r>
          </a:p>
        </p:txBody>
      </p:sp>
      <p:sp>
        <p:nvSpPr>
          <p:cNvPr id="13" name="TextBox 12"/>
          <p:cNvSpPr txBox="1"/>
          <p:nvPr/>
        </p:nvSpPr>
        <p:spPr>
          <a:xfrm>
            <a:off x="7726679" y="2697480"/>
            <a:ext cx="3931920" cy="237744"/>
          </a:xfrm>
          <a:prstGeom prst="rect">
            <a:avLst/>
          </a:prstGeom>
          <a:noFill/>
        </p:spPr>
        <p:txBody>
          <a:bodyPr wrap="square" lIns="0" tIns="0" rIns="0" bIns="0" anchor="t">
            <a:spAutoFit/>
          </a:bodyPr>
          <a:lstStyle/>
          <a:p>
            <a:pPr algn="l"/>
            <a:r>
              <a:rPr sz="1000" b="0">
                <a:solidFill>
                  <a:srgbClr val="0F294B"/>
                </a:solidFill>
                <a:latin typeface="Calibri"/>
              </a:rPr>
              <a:t>brake-only — geometry forces merge</a:t>
            </a:r>
          </a:p>
        </p:txBody>
      </p:sp>
      <p:sp>
        <p:nvSpPr>
          <p:cNvPr id="14" name="TextBox 13"/>
          <p:cNvSpPr txBox="1"/>
          <p:nvPr/>
        </p:nvSpPr>
        <p:spPr>
          <a:xfrm>
            <a:off x="7726679" y="3044952"/>
            <a:ext cx="3931920" cy="256032"/>
          </a:xfrm>
          <a:prstGeom prst="rect">
            <a:avLst/>
          </a:prstGeom>
          <a:noFill/>
        </p:spPr>
        <p:txBody>
          <a:bodyPr wrap="square" lIns="0" tIns="0" rIns="0" bIns="0" anchor="t">
            <a:spAutoFit/>
          </a:bodyPr>
          <a:lstStyle/>
          <a:p>
            <a:pPr algn="l"/>
            <a:r>
              <a:rPr sz="1200" b="1">
                <a:solidFill>
                  <a:srgbClr val="2563EB"/>
                </a:solidFill>
                <a:latin typeface="Calibri"/>
              </a:rPr>
              <a:t>Highway</a:t>
            </a:r>
          </a:p>
        </p:txBody>
      </p:sp>
      <p:sp>
        <p:nvSpPr>
          <p:cNvPr id="15" name="TextBox 14"/>
          <p:cNvSpPr txBox="1"/>
          <p:nvPr/>
        </p:nvSpPr>
        <p:spPr>
          <a:xfrm>
            <a:off x="7726679" y="3300984"/>
            <a:ext cx="3931920" cy="237744"/>
          </a:xfrm>
          <a:prstGeom prst="rect">
            <a:avLst/>
          </a:prstGeom>
          <a:noFill/>
        </p:spPr>
        <p:txBody>
          <a:bodyPr wrap="square" lIns="0" tIns="0" rIns="0" bIns="0" anchor="t">
            <a:spAutoFit/>
          </a:bodyPr>
          <a:lstStyle/>
          <a:p>
            <a:pPr algn="l"/>
            <a:r>
              <a:rPr sz="1000" b="1">
                <a:solidFill>
                  <a:srgbClr val="0F294B"/>
                </a:solidFill>
                <a:latin typeface="Calibri"/>
              </a:rPr>
              <a:t>0/1 crashes  (0 %)</a:t>
            </a:r>
          </a:p>
        </p:txBody>
      </p:sp>
      <p:sp>
        <p:nvSpPr>
          <p:cNvPr id="16" name="TextBox 15"/>
          <p:cNvSpPr txBox="1"/>
          <p:nvPr/>
        </p:nvSpPr>
        <p:spPr>
          <a:xfrm>
            <a:off x="7726679" y="3538728"/>
            <a:ext cx="3931920" cy="237744"/>
          </a:xfrm>
          <a:prstGeom prst="rect">
            <a:avLst/>
          </a:prstGeom>
          <a:noFill/>
        </p:spPr>
        <p:txBody>
          <a:bodyPr wrap="square" lIns="0" tIns="0" rIns="0" bIns="0" anchor="t">
            <a:spAutoFit/>
          </a:bodyPr>
          <a:lstStyle/>
          <a:p>
            <a:pPr algn="l"/>
            <a:r>
              <a:rPr sz="1000" b="0">
                <a:solidFill>
                  <a:srgbClr val="64748B"/>
                </a:solidFill>
                <a:latin typeface="Calibri"/>
              </a:rPr>
              <a:t>SLOWER 100 %</a:t>
            </a:r>
          </a:p>
        </p:txBody>
      </p:sp>
      <p:sp>
        <p:nvSpPr>
          <p:cNvPr id="17" name="TextBox 16"/>
          <p:cNvSpPr txBox="1"/>
          <p:nvPr/>
        </p:nvSpPr>
        <p:spPr>
          <a:xfrm>
            <a:off x="7726679" y="3776472"/>
            <a:ext cx="3931920" cy="237744"/>
          </a:xfrm>
          <a:prstGeom prst="rect">
            <a:avLst/>
          </a:prstGeom>
          <a:noFill/>
        </p:spPr>
        <p:txBody>
          <a:bodyPr wrap="square" lIns="0" tIns="0" rIns="0" bIns="0" anchor="t">
            <a:spAutoFit/>
          </a:bodyPr>
          <a:lstStyle/>
          <a:p>
            <a:pPr algn="l"/>
            <a:r>
              <a:rPr sz="1000" b="0">
                <a:solidFill>
                  <a:srgbClr val="0F294B"/>
                </a:solidFill>
                <a:latin typeface="Calibri"/>
              </a:rPr>
              <a:t>brake-only — lazy optimum</a:t>
            </a:r>
          </a:p>
        </p:txBody>
      </p:sp>
      <p:sp>
        <p:nvSpPr>
          <p:cNvPr id="18" name="TextBox 17"/>
          <p:cNvSpPr txBox="1"/>
          <p:nvPr/>
        </p:nvSpPr>
        <p:spPr>
          <a:xfrm>
            <a:off x="7726679" y="4123944"/>
            <a:ext cx="3931920" cy="256032"/>
          </a:xfrm>
          <a:prstGeom prst="rect">
            <a:avLst/>
          </a:prstGeom>
          <a:noFill/>
        </p:spPr>
        <p:txBody>
          <a:bodyPr wrap="square" lIns="0" tIns="0" rIns="0" bIns="0" anchor="t">
            <a:spAutoFit/>
          </a:bodyPr>
          <a:lstStyle/>
          <a:p>
            <a:pPr algn="l"/>
            <a:r>
              <a:rPr sz="1200" b="1">
                <a:solidFill>
                  <a:srgbClr val="DC2626"/>
                </a:solidFill>
                <a:latin typeface="Calibri"/>
              </a:rPr>
              <a:t>Roundabout</a:t>
            </a:r>
          </a:p>
        </p:txBody>
      </p:sp>
      <p:sp>
        <p:nvSpPr>
          <p:cNvPr id="19" name="TextBox 18"/>
          <p:cNvSpPr txBox="1"/>
          <p:nvPr/>
        </p:nvSpPr>
        <p:spPr>
          <a:xfrm>
            <a:off x="7726679" y="4379976"/>
            <a:ext cx="3931920" cy="237744"/>
          </a:xfrm>
          <a:prstGeom prst="rect">
            <a:avLst/>
          </a:prstGeom>
          <a:noFill/>
        </p:spPr>
        <p:txBody>
          <a:bodyPr wrap="square" lIns="0" tIns="0" rIns="0" bIns="0" anchor="t">
            <a:spAutoFit/>
          </a:bodyPr>
          <a:lstStyle/>
          <a:p>
            <a:pPr algn="l"/>
            <a:r>
              <a:rPr sz="1000" b="1">
                <a:solidFill>
                  <a:srgbClr val="0F294B"/>
                </a:solidFill>
                <a:latin typeface="Calibri"/>
              </a:rPr>
              <a:t>2/6 crashes  (33 %)</a:t>
            </a:r>
          </a:p>
        </p:txBody>
      </p:sp>
      <p:sp>
        <p:nvSpPr>
          <p:cNvPr id="20" name="TextBox 19"/>
          <p:cNvSpPr txBox="1"/>
          <p:nvPr/>
        </p:nvSpPr>
        <p:spPr>
          <a:xfrm>
            <a:off x="7726679" y="4617720"/>
            <a:ext cx="3931920" cy="237744"/>
          </a:xfrm>
          <a:prstGeom prst="rect">
            <a:avLst/>
          </a:prstGeom>
          <a:noFill/>
        </p:spPr>
        <p:txBody>
          <a:bodyPr wrap="square" lIns="0" tIns="0" rIns="0" bIns="0" anchor="t">
            <a:spAutoFit/>
          </a:bodyPr>
          <a:lstStyle/>
          <a:p>
            <a:pPr algn="l"/>
            <a:r>
              <a:rPr sz="1000" b="0">
                <a:solidFill>
                  <a:srgbClr val="64748B"/>
                </a:solidFill>
                <a:latin typeface="Calibri"/>
              </a:rPr>
              <a:t>FAST 53 %, IDLE 22 %, LANE 13 %</a:t>
            </a:r>
          </a:p>
        </p:txBody>
      </p:sp>
      <p:sp>
        <p:nvSpPr>
          <p:cNvPr id="21" name="TextBox 20"/>
          <p:cNvSpPr txBox="1"/>
          <p:nvPr/>
        </p:nvSpPr>
        <p:spPr>
          <a:xfrm>
            <a:off x="7726679" y="4855464"/>
            <a:ext cx="3931920" cy="237744"/>
          </a:xfrm>
          <a:prstGeom prst="rect">
            <a:avLst/>
          </a:prstGeom>
          <a:noFill/>
        </p:spPr>
        <p:txBody>
          <a:bodyPr wrap="square" lIns="0" tIns="0" rIns="0" bIns="0" anchor="t">
            <a:spAutoFit/>
          </a:bodyPr>
          <a:lstStyle/>
          <a:p>
            <a:pPr algn="l"/>
            <a:r>
              <a:rPr sz="1000" b="0">
                <a:solidFill>
                  <a:srgbClr val="0F294B"/>
                </a:solidFill>
                <a:latin typeface="Calibri"/>
              </a:rPr>
              <a:t>uses lane changes — still crashes</a:t>
            </a:r>
          </a:p>
        </p:txBody>
      </p:sp>
      <p:sp>
        <p:nvSpPr>
          <p:cNvPr id="22" name="TextBox 21"/>
          <p:cNvSpPr txBox="1"/>
          <p:nvPr/>
        </p:nvSpPr>
        <p:spPr>
          <a:xfrm>
            <a:off x="7726679" y="5202936"/>
            <a:ext cx="3931920" cy="256032"/>
          </a:xfrm>
          <a:prstGeom prst="rect">
            <a:avLst/>
          </a:prstGeom>
          <a:noFill/>
        </p:spPr>
        <p:txBody>
          <a:bodyPr wrap="square" lIns="0" tIns="0" rIns="0" bIns="0" anchor="t">
            <a:spAutoFit/>
          </a:bodyPr>
          <a:lstStyle/>
          <a:p>
            <a:pPr algn="l"/>
            <a:r>
              <a:rPr sz="1200" b="1">
                <a:solidFill>
                  <a:srgbClr val="DC2626"/>
                </a:solidFill>
                <a:latin typeface="Calibri"/>
              </a:rPr>
              <a:t>Intersection</a:t>
            </a:r>
          </a:p>
        </p:txBody>
      </p:sp>
      <p:sp>
        <p:nvSpPr>
          <p:cNvPr id="23" name="TextBox 22"/>
          <p:cNvSpPr txBox="1"/>
          <p:nvPr/>
        </p:nvSpPr>
        <p:spPr>
          <a:xfrm>
            <a:off x="7726679" y="5458968"/>
            <a:ext cx="3931920" cy="237744"/>
          </a:xfrm>
          <a:prstGeom prst="rect">
            <a:avLst/>
          </a:prstGeom>
          <a:noFill/>
        </p:spPr>
        <p:txBody>
          <a:bodyPr wrap="square" lIns="0" tIns="0" rIns="0" bIns="0" anchor="t">
            <a:spAutoFit/>
          </a:bodyPr>
          <a:lstStyle/>
          <a:p>
            <a:pPr algn="l"/>
            <a:r>
              <a:rPr sz="1000" b="1">
                <a:solidFill>
                  <a:srgbClr val="0F294B"/>
                </a:solidFill>
                <a:latin typeface="Calibri"/>
              </a:rPr>
              <a:t>9/18 crashes  (50 %)</a:t>
            </a:r>
          </a:p>
        </p:txBody>
      </p:sp>
      <p:sp>
        <p:nvSpPr>
          <p:cNvPr id="24" name="TextBox 23"/>
          <p:cNvSpPr txBox="1"/>
          <p:nvPr/>
        </p:nvSpPr>
        <p:spPr>
          <a:xfrm>
            <a:off x="7726679" y="5696712"/>
            <a:ext cx="3931920" cy="237744"/>
          </a:xfrm>
          <a:prstGeom prst="rect">
            <a:avLst/>
          </a:prstGeom>
          <a:noFill/>
        </p:spPr>
        <p:txBody>
          <a:bodyPr wrap="square" lIns="0" tIns="0" rIns="0" bIns="0" anchor="t">
            <a:spAutoFit/>
          </a:bodyPr>
          <a:lstStyle/>
          <a:p>
            <a:pPr algn="l"/>
            <a:r>
              <a:rPr sz="1000" b="0">
                <a:solidFill>
                  <a:srgbClr val="64748B"/>
                </a:solidFill>
                <a:latin typeface="Calibri"/>
              </a:rPr>
              <a:t>FAST 67 %, LANE 15 %, SLOWER 8 %</a:t>
            </a:r>
          </a:p>
        </p:txBody>
      </p:sp>
      <p:sp>
        <p:nvSpPr>
          <p:cNvPr id="25" name="TextBox 24"/>
          <p:cNvSpPr txBox="1"/>
          <p:nvPr/>
        </p:nvSpPr>
        <p:spPr>
          <a:xfrm>
            <a:off x="7726679" y="5934456"/>
            <a:ext cx="3931920" cy="237744"/>
          </a:xfrm>
          <a:prstGeom prst="rect">
            <a:avLst/>
          </a:prstGeom>
          <a:noFill/>
        </p:spPr>
        <p:txBody>
          <a:bodyPr wrap="square" lIns="0" tIns="0" rIns="0" bIns="0" anchor="t">
            <a:spAutoFit/>
          </a:bodyPr>
          <a:lstStyle/>
          <a:p>
            <a:pPr algn="l"/>
            <a:r>
              <a:rPr sz="1000" b="0">
                <a:solidFill>
                  <a:srgbClr val="0F294B"/>
                </a:solidFill>
                <a:latin typeface="Calibri"/>
              </a:rPr>
              <a:t>uses lane changes — still crashes</a:t>
            </a:r>
          </a:p>
        </p:txBody>
      </p:sp>
      <p:sp>
        <p:nvSpPr>
          <p:cNvPr id="26" name="Rounded Rectangle 25"/>
          <p:cNvSpPr/>
          <p:nvPr/>
        </p:nvSpPr>
        <p:spPr>
          <a:xfrm>
            <a:off x="457200" y="4069080"/>
            <a:ext cx="6858000" cy="224028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4206240"/>
            <a:ext cx="6400800" cy="365760"/>
          </a:xfrm>
          <a:prstGeom prst="rect">
            <a:avLst/>
          </a:prstGeom>
          <a:noFill/>
        </p:spPr>
        <p:txBody>
          <a:bodyPr wrap="square" lIns="0" tIns="0" rIns="0" bIns="0" anchor="t">
            <a:spAutoFit/>
          </a:bodyPr>
          <a:lstStyle/>
          <a:p>
            <a:pPr algn="l"/>
            <a:r>
              <a:rPr sz="1300" b="1">
                <a:solidFill>
                  <a:srgbClr val="0F294B"/>
                </a:solidFill>
                <a:latin typeface="Calibri"/>
              </a:rPr>
              <a:t>What the demo reveals</a:t>
            </a:r>
          </a:p>
        </p:txBody>
      </p:sp>
      <p:sp>
        <p:nvSpPr>
          <p:cNvPr id="28" name="TextBox 27"/>
          <p:cNvSpPr txBox="1"/>
          <p:nvPr/>
        </p:nvSpPr>
        <p:spPr>
          <a:xfrm>
            <a:off x="685800" y="4572000"/>
            <a:ext cx="6400800" cy="274320"/>
          </a:xfrm>
          <a:prstGeom prst="rect">
            <a:avLst/>
          </a:prstGeom>
          <a:noFill/>
        </p:spPr>
        <p:txBody>
          <a:bodyPr wrap="square" lIns="0" tIns="0" rIns="0" bIns="0" anchor="t">
            <a:spAutoFit/>
          </a:bodyPr>
          <a:lstStyle/>
          <a:p>
            <a:pPr algn="l"/>
            <a:r>
              <a:rPr sz="1100" b="0">
                <a:solidFill>
                  <a:srgbClr val="0F294B"/>
                </a:solidFill>
                <a:latin typeface="Calibri"/>
              </a:rPr>
              <a:t>Linear-flow tasks (merge, highway):  policy collapses to ~100 % SLOWER.</a:t>
            </a:r>
          </a:p>
        </p:txBody>
      </p:sp>
      <p:sp>
        <p:nvSpPr>
          <p:cNvPr id="29" name="TextBox 28"/>
          <p:cNvSpPr txBox="1"/>
          <p:nvPr/>
        </p:nvSpPr>
        <p:spPr>
          <a:xfrm>
            <a:off x="685800" y="4846320"/>
            <a:ext cx="6400800" cy="274320"/>
          </a:xfrm>
          <a:prstGeom prst="rect">
            <a:avLst/>
          </a:prstGeom>
          <a:noFill/>
        </p:spPr>
        <p:txBody>
          <a:bodyPr wrap="square" lIns="0" tIns="0" rIns="0" bIns="0" anchor="t">
            <a:spAutoFit/>
          </a:bodyPr>
          <a:lstStyle/>
          <a:p>
            <a:pPr algn="l"/>
            <a:r>
              <a:rPr sz="1100" b="0">
                <a:solidFill>
                  <a:srgbClr val="0F294B"/>
                </a:solidFill>
                <a:latin typeface="Calibri"/>
              </a:rPr>
              <a:t>Geometry-complex tasks (roundabout, intersection):  policy DOES use</a:t>
            </a:r>
          </a:p>
        </p:txBody>
      </p:sp>
      <p:sp>
        <p:nvSpPr>
          <p:cNvPr id="30" name="TextBox 29"/>
          <p:cNvSpPr txBox="1"/>
          <p:nvPr/>
        </p:nvSpPr>
        <p:spPr>
          <a:xfrm>
            <a:off x="685800" y="5120640"/>
            <a:ext cx="6400800" cy="274320"/>
          </a:xfrm>
          <a:prstGeom prst="rect">
            <a:avLst/>
          </a:prstGeom>
          <a:noFill/>
        </p:spPr>
        <p:txBody>
          <a:bodyPr wrap="square" lIns="0" tIns="0" rIns="0" bIns="0" anchor="t">
            <a:spAutoFit/>
          </a:bodyPr>
          <a:lstStyle/>
          <a:p>
            <a:pPr algn="l"/>
            <a:r>
              <a:rPr sz="1100" b="0">
                <a:solidFill>
                  <a:srgbClr val="0F294B"/>
                </a:solidFill>
                <a:latin typeface="Calibri"/>
              </a:rPr>
              <a:t>12-15 % lane-change actions — but 3 k-step training is too short to</a:t>
            </a:r>
          </a:p>
        </p:txBody>
      </p:sp>
      <p:sp>
        <p:nvSpPr>
          <p:cNvPr id="31" name="TextBox 30"/>
          <p:cNvSpPr txBox="1"/>
          <p:nvPr/>
        </p:nvSpPr>
        <p:spPr>
          <a:xfrm>
            <a:off x="685800" y="5394960"/>
            <a:ext cx="6400800" cy="274320"/>
          </a:xfrm>
          <a:prstGeom prst="rect">
            <a:avLst/>
          </a:prstGeom>
          <a:noFill/>
        </p:spPr>
        <p:txBody>
          <a:bodyPr wrap="square" lIns="0" tIns="0" rIns="0" bIns="0" anchor="t">
            <a:spAutoFit/>
          </a:bodyPr>
          <a:lstStyle/>
          <a:p>
            <a:pPr algn="l"/>
            <a:r>
              <a:rPr sz="1100" b="0">
                <a:solidFill>
                  <a:srgbClr val="0F294B"/>
                </a:solidFill>
                <a:latin typeface="Calibri"/>
              </a:rPr>
              <a:t>drive them well, so crash rate stays at 33-50 %.</a:t>
            </a:r>
          </a:p>
        </p:txBody>
      </p:sp>
      <p:sp>
        <p:nvSpPr>
          <p:cNvPr id="32" name="TextBox 31"/>
          <p:cNvSpPr txBox="1"/>
          <p:nvPr/>
        </p:nvSpPr>
        <p:spPr>
          <a:xfrm>
            <a:off x="685800" y="5669280"/>
            <a:ext cx="6400800" cy="274320"/>
          </a:xfrm>
          <a:prstGeom prst="rect">
            <a:avLst/>
          </a:prstGeom>
          <a:noFill/>
        </p:spPr>
        <p:txBody>
          <a:bodyPr wrap="square" lIns="0" tIns="0" rIns="0" bIns="0" anchor="t">
            <a:spAutoFit/>
          </a:bodyPr>
          <a:lstStyle/>
          <a:p>
            <a:pPr algn="l"/>
            <a:endParaRPr/>
          </a:p>
        </p:txBody>
      </p:sp>
      <p:sp>
        <p:nvSpPr>
          <p:cNvPr id="33" name="TextBox 32"/>
          <p:cNvSpPr txBox="1"/>
          <p:nvPr/>
        </p:nvSpPr>
        <p:spPr>
          <a:xfrm>
            <a:off x="685800" y="5943600"/>
            <a:ext cx="6400800" cy="274320"/>
          </a:xfrm>
          <a:prstGeom prst="rect">
            <a:avLst/>
          </a:prstGeom>
          <a:noFill/>
        </p:spPr>
        <p:txBody>
          <a:bodyPr wrap="square" lIns="0" tIns="0" rIns="0" bIns="0" anchor="t">
            <a:spAutoFit/>
          </a:bodyPr>
          <a:lstStyle/>
          <a:p>
            <a:pPr algn="l"/>
            <a:r>
              <a:rPr sz="1100" b="1">
                <a:solidFill>
                  <a:srgbClr val="0F294B"/>
                </a:solidFill>
                <a:latin typeface="Calibri"/>
              </a:rPr>
              <a:t>Confirms paper's claim is robust on linear merges; open on intersections.</a:t>
            </a:r>
          </a:p>
        </p:txBody>
      </p:sp>
      <p:sp>
        <p:nvSpPr>
          <p:cNvPr id="34" name="TextBox 33"/>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058400" cy="457200"/>
          </a:xfrm>
          <a:prstGeom prst="rect">
            <a:avLst/>
          </a:prstGeom>
          <a:noFill/>
        </p:spPr>
        <p:txBody>
          <a:bodyPr wrap="square" lIns="0" tIns="0" rIns="0" bIns="0" anchor="t">
            <a:spAutoFit/>
          </a:bodyPr>
          <a:lstStyle/>
          <a:p>
            <a:pPr algn="l"/>
            <a:r>
              <a:rPr sz="2200" b="1">
                <a:solidFill>
                  <a:srgbClr val="FFFFFF"/>
                </a:solidFill>
                <a:latin typeface="Calibri"/>
              </a:rPr>
              <a:t>Take-aways</a:t>
            </a:r>
          </a:p>
        </p:txBody>
      </p:sp>
      <p:sp>
        <p:nvSpPr>
          <p:cNvPr id="4" name="TextBox 3"/>
          <p:cNvSpPr txBox="1"/>
          <p:nvPr/>
        </p:nvSpPr>
        <p:spPr>
          <a:xfrm>
            <a:off x="10607040" y="164592"/>
            <a:ext cx="1554480" cy="365760"/>
          </a:xfrm>
          <a:prstGeom prst="rect">
            <a:avLst/>
          </a:prstGeom>
          <a:noFill/>
        </p:spPr>
        <p:txBody>
          <a:bodyPr wrap="square" lIns="0" tIns="0" rIns="0" bIns="0" anchor="t">
            <a:spAutoFit/>
          </a:bodyPr>
          <a:lstStyle/>
          <a:p>
            <a:pPr algn="r"/>
            <a:r>
              <a:rPr sz="1200" b="0">
                <a:solidFill>
                  <a:srgbClr val="CBD5E1"/>
                </a:solidFill>
                <a:latin typeface="Calibri"/>
              </a:rPr>
              <a:t>15 / 16</a:t>
            </a:r>
          </a:p>
        </p:txBody>
      </p:sp>
      <p:sp>
        <p:nvSpPr>
          <p:cNvPr id="5" name="TextBox 4"/>
          <p:cNvSpPr txBox="1"/>
          <p:nvPr/>
        </p:nvSpPr>
        <p:spPr>
          <a:xfrm>
            <a:off x="457200" y="868680"/>
            <a:ext cx="10972800" cy="411480"/>
          </a:xfrm>
          <a:prstGeom prst="rect">
            <a:avLst/>
          </a:prstGeom>
          <a:noFill/>
        </p:spPr>
        <p:txBody>
          <a:bodyPr wrap="square" lIns="0" tIns="0" rIns="0" bIns="0" anchor="t">
            <a:spAutoFit/>
          </a:bodyPr>
          <a:lstStyle/>
          <a:p>
            <a:pPr algn="l"/>
            <a:r>
              <a:rPr sz="1500" b="0">
                <a:solidFill>
                  <a:srgbClr val="64748B"/>
                </a:solidFill>
                <a:latin typeface="Calibri"/>
              </a:rPr>
              <a:t>Three things we want you to remember.</a:t>
            </a:r>
          </a:p>
        </p:txBody>
      </p:sp>
      <p:sp>
        <p:nvSpPr>
          <p:cNvPr id="6" name="Rounded Rectangle 5"/>
          <p:cNvSpPr/>
          <p:nvPr/>
        </p:nvSpPr>
        <p:spPr>
          <a:xfrm>
            <a:off x="457200" y="1417320"/>
            <a:ext cx="11274552"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0080" y="1691640"/>
            <a:ext cx="868680" cy="868680"/>
          </a:xfrm>
          <a:prstGeom prst="ellipse">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783080"/>
            <a:ext cx="868680" cy="731520"/>
          </a:xfrm>
          <a:prstGeom prst="rect">
            <a:avLst/>
          </a:prstGeom>
          <a:noFill/>
        </p:spPr>
        <p:txBody>
          <a:bodyPr wrap="square" lIns="0" tIns="0" rIns="0" bIns="0" anchor="t">
            <a:spAutoFit/>
          </a:bodyPr>
          <a:lstStyle/>
          <a:p>
            <a:pPr algn="ctr"/>
            <a:r>
              <a:rPr sz="2800" b="1">
                <a:solidFill>
                  <a:srgbClr val="FFFFFF"/>
                </a:solidFill>
                <a:latin typeface="Calibri"/>
              </a:rPr>
              <a:t>1</a:t>
            </a:r>
          </a:p>
        </p:txBody>
      </p:sp>
      <p:sp>
        <p:nvSpPr>
          <p:cNvPr id="9" name="TextBox 8"/>
          <p:cNvSpPr txBox="1"/>
          <p:nvPr/>
        </p:nvSpPr>
        <p:spPr>
          <a:xfrm>
            <a:off x="1691640" y="1581912"/>
            <a:ext cx="9601200" cy="457200"/>
          </a:xfrm>
          <a:prstGeom prst="rect">
            <a:avLst/>
          </a:prstGeom>
          <a:noFill/>
        </p:spPr>
        <p:txBody>
          <a:bodyPr wrap="square" lIns="0" tIns="0" rIns="0" bIns="0" anchor="t">
            <a:spAutoFit/>
          </a:bodyPr>
          <a:lstStyle/>
          <a:p>
            <a:pPr algn="l"/>
            <a:r>
              <a:rPr sz="1800" b="1">
                <a:solidFill>
                  <a:srgbClr val="0F294B"/>
                </a:solidFill>
                <a:latin typeface="Calibri"/>
              </a:rPr>
              <a:t>Decoupling matters.</a:t>
            </a:r>
          </a:p>
        </p:txBody>
      </p:sp>
      <p:sp>
        <p:nvSpPr>
          <p:cNvPr id="10" name="TextBox 9"/>
          <p:cNvSpPr txBox="1"/>
          <p:nvPr/>
        </p:nvSpPr>
        <p:spPr>
          <a:xfrm>
            <a:off x="1691640" y="2057400"/>
            <a:ext cx="9601200" cy="777240"/>
          </a:xfrm>
          <a:prstGeom prst="rect">
            <a:avLst/>
          </a:prstGeom>
          <a:noFill/>
        </p:spPr>
        <p:txBody>
          <a:bodyPr wrap="square" lIns="0" tIns="0" rIns="0" bIns="0" anchor="t">
            <a:spAutoFit/>
          </a:bodyPr>
          <a:lstStyle/>
          <a:p>
            <a:pPr algn="l"/>
            <a:r>
              <a:rPr sz="1300" b="0">
                <a:solidFill>
                  <a:srgbClr val="0F294B"/>
                </a:solidFill>
                <a:latin typeface="Calibri"/>
              </a:rPr>
              <a:t>The CMDP framework only delivers when reward is reward-only.  Setting collision_reward = 0 is what unlocks the 40 % → 9 % gap.</a:t>
            </a:r>
          </a:p>
        </p:txBody>
      </p:sp>
      <p:sp>
        <p:nvSpPr>
          <p:cNvPr id="11" name="Rounded Rectangle 10"/>
          <p:cNvSpPr/>
          <p:nvPr/>
        </p:nvSpPr>
        <p:spPr>
          <a:xfrm>
            <a:off x="457200" y="2971800"/>
            <a:ext cx="11274552"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0080" y="3246120"/>
            <a:ext cx="868680" cy="868680"/>
          </a:xfrm>
          <a:prstGeom prst="ellipse">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337560"/>
            <a:ext cx="868680" cy="731520"/>
          </a:xfrm>
          <a:prstGeom prst="rect">
            <a:avLst/>
          </a:prstGeom>
          <a:noFill/>
        </p:spPr>
        <p:txBody>
          <a:bodyPr wrap="square" lIns="0" tIns="0" rIns="0" bIns="0" anchor="t">
            <a:spAutoFit/>
          </a:bodyPr>
          <a:lstStyle/>
          <a:p>
            <a:pPr algn="ctr"/>
            <a:r>
              <a:rPr sz="2800" b="1">
                <a:solidFill>
                  <a:srgbClr val="FFFFFF"/>
                </a:solidFill>
                <a:latin typeface="Calibri"/>
              </a:rPr>
              <a:t>2</a:t>
            </a:r>
          </a:p>
        </p:txBody>
      </p:sp>
      <p:sp>
        <p:nvSpPr>
          <p:cNvPr id="14" name="TextBox 13"/>
          <p:cNvSpPr txBox="1"/>
          <p:nvPr/>
        </p:nvSpPr>
        <p:spPr>
          <a:xfrm>
            <a:off x="1691640" y="3136392"/>
            <a:ext cx="9601200" cy="457200"/>
          </a:xfrm>
          <a:prstGeom prst="rect">
            <a:avLst/>
          </a:prstGeom>
          <a:noFill/>
        </p:spPr>
        <p:txBody>
          <a:bodyPr wrap="square" lIns="0" tIns="0" rIns="0" bIns="0" anchor="t">
            <a:spAutoFit/>
          </a:bodyPr>
          <a:lstStyle/>
          <a:p>
            <a:pPr algn="l"/>
            <a:r>
              <a:rPr sz="1800" b="1">
                <a:solidFill>
                  <a:srgbClr val="0F294B"/>
                </a:solidFill>
                <a:latin typeface="Calibri"/>
              </a:rPr>
              <a:t>Discrete-action PPOLag often collapses to braking.</a:t>
            </a:r>
          </a:p>
        </p:txBody>
      </p:sp>
      <p:sp>
        <p:nvSpPr>
          <p:cNvPr id="15" name="TextBox 14"/>
          <p:cNvSpPr txBox="1"/>
          <p:nvPr/>
        </p:nvSpPr>
        <p:spPr>
          <a:xfrm>
            <a:off x="1691640" y="3611880"/>
            <a:ext cx="9601200" cy="777240"/>
          </a:xfrm>
          <a:prstGeom prst="rect">
            <a:avLst/>
          </a:prstGeom>
          <a:noFill/>
        </p:spPr>
        <p:txBody>
          <a:bodyPr wrap="square" lIns="0" tIns="0" rIns="0" bIns="0" anchor="t">
            <a:spAutoFit/>
          </a:bodyPr>
          <a:lstStyle/>
          <a:p>
            <a:pPr algn="l"/>
            <a:r>
              <a:rPr sz="1300" b="0">
                <a:solidFill>
                  <a:srgbClr val="0F294B"/>
                </a:solidFill>
                <a:latin typeface="Calibri"/>
              </a:rPr>
              <a:t>On merge and highway the policy converges to ~100 % SLOWER.  Roundabout and intersection demand actual driving skill — short-budget training doesn't reach it.</a:t>
            </a:r>
          </a:p>
        </p:txBody>
      </p:sp>
      <p:sp>
        <p:nvSpPr>
          <p:cNvPr id="16" name="Rounded Rectangle 15"/>
          <p:cNvSpPr/>
          <p:nvPr/>
        </p:nvSpPr>
        <p:spPr>
          <a:xfrm>
            <a:off x="457200" y="4526280"/>
            <a:ext cx="11274552"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0080" y="4800600"/>
            <a:ext cx="868680" cy="868680"/>
          </a:xfrm>
          <a:prstGeom prst="ellipse">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892040"/>
            <a:ext cx="868680" cy="731520"/>
          </a:xfrm>
          <a:prstGeom prst="rect">
            <a:avLst/>
          </a:prstGeom>
          <a:noFill/>
        </p:spPr>
        <p:txBody>
          <a:bodyPr wrap="square" lIns="0" tIns="0" rIns="0" bIns="0" anchor="t">
            <a:spAutoFit/>
          </a:bodyPr>
          <a:lstStyle/>
          <a:p>
            <a:pPr algn="ctr"/>
            <a:r>
              <a:rPr sz="2800" b="1">
                <a:solidFill>
                  <a:srgbClr val="FFFFFF"/>
                </a:solidFill>
                <a:latin typeface="Calibri"/>
              </a:rPr>
              <a:t>3</a:t>
            </a:r>
          </a:p>
        </p:txBody>
      </p:sp>
      <p:sp>
        <p:nvSpPr>
          <p:cNvPr id="19" name="TextBox 18"/>
          <p:cNvSpPr txBox="1"/>
          <p:nvPr/>
        </p:nvSpPr>
        <p:spPr>
          <a:xfrm>
            <a:off x="1691640" y="4690872"/>
            <a:ext cx="9601200" cy="457200"/>
          </a:xfrm>
          <a:prstGeom prst="rect">
            <a:avLst/>
          </a:prstGeom>
          <a:noFill/>
        </p:spPr>
        <p:txBody>
          <a:bodyPr wrap="square" lIns="0" tIns="0" rIns="0" bIns="0" anchor="t">
            <a:spAutoFit/>
          </a:bodyPr>
          <a:lstStyle/>
          <a:p>
            <a:pPr algn="l"/>
            <a:r>
              <a:rPr sz="1800" b="1">
                <a:solidFill>
                  <a:srgbClr val="0F294B"/>
                </a:solidFill>
                <a:latin typeface="Calibri"/>
              </a:rPr>
              <a:t>Honesty beats hype.</a:t>
            </a:r>
          </a:p>
        </p:txBody>
      </p:sp>
      <p:sp>
        <p:nvSpPr>
          <p:cNvPr id="20" name="TextBox 19"/>
          <p:cNvSpPr txBox="1"/>
          <p:nvPr/>
        </p:nvSpPr>
        <p:spPr>
          <a:xfrm>
            <a:off x="1691640" y="5166360"/>
            <a:ext cx="9601200" cy="777240"/>
          </a:xfrm>
          <a:prstGeom prst="rect">
            <a:avLst/>
          </a:prstGeom>
          <a:noFill/>
        </p:spPr>
        <p:txBody>
          <a:bodyPr wrap="square" lIns="0" tIns="0" rIns="0" bIns="0" anchor="t">
            <a:spAutoFit/>
          </a:bodyPr>
          <a:lstStyle/>
          <a:p>
            <a:pPr algn="l"/>
            <a:r>
              <a:rPr sz="1300" b="0">
                <a:solidFill>
                  <a:srgbClr val="0F294B"/>
                </a:solidFill>
                <a:latin typeface="Calibri"/>
              </a:rPr>
              <a:t>We report negative results, large CIs, and missing baselines (WCSAC, cooperative drivers).  We surface them rather than hide them.</a:t>
            </a:r>
          </a:p>
        </p:txBody>
      </p:sp>
      <p:sp>
        <p:nvSpPr>
          <p:cNvPr id="21" name="TextBox 20"/>
          <p:cNvSpPr txBox="1"/>
          <p:nvPr/>
        </p:nvSpPr>
        <p:spPr>
          <a:xfrm>
            <a:off x="457200" y="6446520"/>
            <a:ext cx="10972800" cy="320040"/>
          </a:xfrm>
          <a:prstGeom prst="rect">
            <a:avLst/>
          </a:prstGeom>
          <a:noFill/>
        </p:spPr>
        <p:txBody>
          <a:bodyPr wrap="square" lIns="0" tIns="0" rIns="0" bIns="0" anchor="t">
            <a:spAutoFit/>
          </a:bodyPr>
          <a:lstStyle/>
          <a:p>
            <a:pPr algn="l"/>
            <a:r>
              <a:rPr sz="1000" b="0">
                <a:solidFill>
                  <a:srgbClr val="64748B"/>
                </a:solidFill>
                <a:latin typeface="Calibri"/>
              </a:rPr>
              <a:t>CS 699  ·  Safe RL on Highway-Env  ·  Milestone 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0040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011680"/>
            <a:ext cx="11247120" cy="1107996"/>
          </a:xfrm>
          <a:prstGeom prst="rect">
            <a:avLst/>
          </a:prstGeom>
          <a:noFill/>
        </p:spPr>
        <p:txBody>
          <a:bodyPr wrap="square" lIns="0" tIns="0" rIns="0" bIns="0" anchor="t">
            <a:spAutoFit/>
          </a:bodyPr>
          <a:lstStyle/>
          <a:p>
            <a:pPr algn="ctr"/>
            <a:r>
              <a:rPr lang="en-US" sz="7200" b="1" dirty="0">
                <a:solidFill>
                  <a:srgbClr val="FFFFFF"/>
                </a:solidFill>
                <a:latin typeface="Calibri"/>
              </a:rPr>
              <a:t>Thank You!</a:t>
            </a:r>
            <a:endParaRPr sz="7200" b="1" dirty="0">
              <a:solidFill>
                <a:srgbClr val="FFFFFF"/>
              </a:solidFill>
              <a:latin typeface="Calibri"/>
            </a:endParaRPr>
          </a:p>
        </p:txBody>
      </p:sp>
      <p:sp>
        <p:nvSpPr>
          <p:cNvPr id="8" name="TextBox 7"/>
          <p:cNvSpPr txBox="1"/>
          <p:nvPr/>
        </p:nvSpPr>
        <p:spPr>
          <a:xfrm>
            <a:off x="457200" y="6217920"/>
            <a:ext cx="11247120" cy="365760"/>
          </a:xfrm>
          <a:prstGeom prst="rect">
            <a:avLst/>
          </a:prstGeom>
          <a:noFill/>
        </p:spPr>
        <p:txBody>
          <a:bodyPr wrap="square" lIns="0" tIns="0" rIns="0" bIns="0" anchor="t">
            <a:spAutoFit/>
          </a:bodyPr>
          <a:lstStyle/>
          <a:p>
            <a:pPr algn="ctr"/>
            <a:r>
              <a:rPr sz="1100" b="0">
                <a:solidFill>
                  <a:srgbClr val="94A3B8"/>
                </a:solidFill>
                <a:latin typeface="Calibri"/>
              </a:rPr>
              <a:t>Group 7  ·  CS 699 Spring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4364</Words>
  <Application>Microsoft Macintosh PowerPoint</Application>
  <PresentationFormat>Widescreen</PresentationFormat>
  <Paragraphs>210</Paragraphs>
  <Slides>16</Slides>
  <Notes>16</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伯年 韩</cp:lastModifiedBy>
  <cp:revision>2</cp:revision>
  <dcterms:created xsi:type="dcterms:W3CDTF">2013-01-27T09:14:16Z</dcterms:created>
  <dcterms:modified xsi:type="dcterms:W3CDTF">2026-05-04T02:45:57Z</dcterms:modified>
  <cp:category/>
</cp:coreProperties>
</file>